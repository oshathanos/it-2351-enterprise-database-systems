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4" r:id="rId5"/>
    <p:sldMasterId id="2147483687" r:id="rId6"/>
  </p:sldMasterIdLst>
  <p:notesMasterIdLst>
    <p:notesMasterId r:id="rId25"/>
  </p:notesMasterIdLst>
  <p:sldIdLst>
    <p:sldId id="268" r:id="rId7"/>
    <p:sldId id="256" r:id="rId8"/>
    <p:sldId id="300" r:id="rId9"/>
    <p:sldId id="299" r:id="rId10"/>
    <p:sldId id="2147470225" r:id="rId11"/>
    <p:sldId id="2147470234" r:id="rId12"/>
    <p:sldId id="310" r:id="rId13"/>
    <p:sldId id="293" r:id="rId14"/>
    <p:sldId id="307" r:id="rId15"/>
    <p:sldId id="302" r:id="rId16"/>
    <p:sldId id="303" r:id="rId17"/>
    <p:sldId id="2147470226" r:id="rId18"/>
    <p:sldId id="2147470228" r:id="rId19"/>
    <p:sldId id="2147470229" r:id="rId20"/>
    <p:sldId id="2147470231" r:id="rId21"/>
    <p:sldId id="2147470232" r:id="rId22"/>
    <p:sldId id="2147470233" r:id="rId23"/>
    <p:sldId id="30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308DF-A11B-53AE-03FA-7F09E629F638}" v="1" dt="2026-05-19T12:57:03.612"/>
    <p1510:client id="{5301A6A9-DF88-850C-714B-D2F6A33E0FEE}" v="2" dt="2026-05-18T22:22:37.943"/>
    <p1510:client id="{E3D866DF-1784-DD42-A4C8-CFD7427F18AB}" v="15" dt="2026-05-18T21:35:26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6T21:26:35.1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6025 8318,'-32'15,"6"-3,17-6,4 0,-4-1,0 4,0 0,1 0,2-4,1 4,-4-3,3 5,-3-5,4 5,-1-4,0 4,0-2,1 0,-1 1,0-3,0 4,-2 1,1-3,-1 3,5-4,-3 2,3-1,-3 2,0-1,3-1,-2 2,2-2,-3 0,0 2,0 1,3 0,-2 0,1 0,1-3,-2 3,1 1,-2 2,0-1,2 1,-1-3,1 1,-2-1,3 0,-2-2,1 1,-2 1,3-2,-3 2,6-4,-5 1,1 3,1 1,-3 2,5-2,-4 6,4-6,-2 6,0-6,3 3,-3-7,0 0,3 5,-3-3,1 4,1-4,-2-4,3 10,0-6,0 7,-2-9,1 3,-1-3,2 3,0 1,0 2,0-2,-3 6,2-6,-2 3,3-4,0 1,0-1,0 0,-2-2,1 1,-2-1,3 2,0 0,0 1,0 2,0-2,0 6,-3-3,3 4,-3-4,3 7,0-6,-3 6,2 1,-2-7,3 5,0 0,0-1,3 4,-2-8,2 1,0-4,-3 4,3-1,0-1,-2 0,1-4,1 0,-2 1,2-1,-1 0,-1 4,2-3,0 6,-3-3,6 1,-5-2,2-5,-3 1,3 8,-3 3,4 8,-2-6,-1 7,5-6,-5 10,5-2,-1 8,2-3,0-2,-3-7,0-6,-2-7,-1-3,2-2,-3-2,0 6,0-2,0 2,0 0,0 2,0 6,0 1,0 0,0-1,0-3,0 0,0-1,0 1,0-1,0 1,0-3,0 1,3-5,-3 6,3-2,-3-1,0 0,3-7,-3 3,3 0,-3 1,0 1,0-1,3-1,-3 0,3-2,-3 1,0-1,0 1,0 4,0-5,0 4,3-2,-3-2,3 4,-3-6,0 1,0 5,0-7,0 7,0-4,3-1,0 2,3-2,-3 0,-11 2,0-4,-10 1,8-2,-1 1,4-2,-1 1,-4 0,-1-3,-6 0,-4-3,2-3,-2-1,7 1,0 0,4 0,2 2,-1-4,-1 1,-1-5,-5 3,5-6,-6 5,2-3,1 4,0 0,1-1,5 4,-5-3,8 5,-4-1,2-3,-3 3,3-6,-2 5,2-3,0 3,-3-5,3 4,0-2,-2 1,3 4,-4-4,0 4,3-4,-2 4,2-4,-3 5,0-3,3 3,-2 0,2 0,-2 0,-1 0,3 0,-3 0,-1 0,0 0,-6 0,3 0,-4 0,1 0,-1 0,1 0,2 0,-2 0,3 0,0 0,0 0,4 0,2 0,-1 0,2 0,-3 0,-3 0,6 0,-6 0,6 0,-3 0,-1 0,-2 0,-2 0,1 0,1 0,2 0,1 0,0 0,-1 3,4-3,-3 3,0-3,-4 0,0 0,-3 0,3 3,0-2,-3 2,6-3,-3 0,4 0,2 0,-4 0,0 0,-2 0,-3 0,-1 0,-1-3,-5 2,5-2,-2 0,6 2,-1-2,1 1,1-2,-3 0,6-1,-3 1,4 1,0-2,-1 4,1-2,0 3,-4-3,-4 2,-8-5,-4 2,-1 0,5-2,1 5,6-2,4 3,5 0,7 0,-9-2,0 1,-5-2,0 0,6 3,-3-3,1 3,5 0,-5 0,5 0,1 0,-8 3,9-3,-9 3,8-3,-4 0,1 0,2 0,-1 2,2-1,-8 5,0-6,-9 3,-2-3,-9 0,0-3,0 2,9-2,8 3,7-3,7 0,1-11,7 1,-2-6,4 4,1 3,-4 0,5-4,-3 3,4-10,-1 6,1-10,0-1,0-1,1-7,-1 8,-3 0,2 1,-5 6,5-2,-6 3,6-3,-2-1,7-8,-4 7,4-3,-5 9,1-1,-1 4,1 0,-1 4,-3-1,3 1,-3-1,1 4,1-12,-1 7,0-12,1 7,-4 2,5-2,-5 6,2-6,-3 3,0-1,2 2,-1 2,2-2,-3 1,3-1,-3-1,6 0,-2-8,5 4,-4-4,4 5,-6 2,3 2,-2 2,2-2,-6-2,6 1,-2-3,-1 2,3-2,-5-1,4 4,-4 0,2 0,0 3,-3-3,3 4,-3 0,0 2,0-2,0 0,0-1,0-2,0 3,3 2,-3-1,3 1,-3-5,0 2,0-2,0 0,0 1,0-1,3 2,-3-2,3 1,-3-1,0-1,0 3,0-6,0 6,0-6,0 2,0 1,0-3,0 3,0-4,0 0,0-3,-3 2,2-2,-2 0,3-1,-2-1,1 2,-2 0,3-1,0-4,0 4,3-3,-2 6,2-6,-3 3,0 0,3 1,-2 3,2 3,-1-1,-1 4,5-5,-2 3,2-4,-2 1,2-5,-2 0,3-4,-3 0,8-8,-7 6,8-7,-3 10,-2-1,2 4,-3-3,2 6,-1-6,-1 7,-1-4,-3 5,4-1,-1 0,4 1,-3-5,3 4,-3-4,-1 1,-2 2,2-2,-2 7,-1-3,0 6,0-9,0 9,1-2,1 6,-2 0,0 0,3-3,-6 3,6-2,-3-2,4 0,-1 1,-3 1,2 1,-4-2,5-1,-3 1,0 0,3-1,-5-2,4 1,-4-1,2-1,-1 3,-1 0,2 4,-3-5,0 3,3-7,-3 6,3-4,-3 0,0-4,3 4,-2-3,1 6,-2-3,3 0,-2 6,2-5,-3 6,2-1,-1-4,2 7,-1-7,-1 5,19 3,-3 1,20 5,-8 3,7 4,1 1,5 6,0-2,-5-1,-2 0,-9-4,-2-3,-9-1,-5-1,1-1,1 1,1 1,6-2,1 8,4-5,8 6,0 1,9 0,1 4,9 1,-3 0,-6-7,-6-3,-8-3,0-2,-4 2,-1-3,-3 0,3 0,-5-2,4 1,-9-2,3 3,-4-3,1 3,-1-6,1 5,2-4,2 1,2-2,-2 2,2-2,-3 0,4-2,3-5,5 6,5-4,0 4,2-3,-6 2,7-6,-7 6,6-6,2 6,5-3,4 0,-4 3,4 0,-9 1,4 3,-8 0,-5-2,-1 5,-10-2,0 3,-6 0,-4 0,8 3,-5-2,6 5,-4-6,0 6,1-6,-4 3,6 0,-5-2,5 4,0-4,5 8,5-5,2 6,-2-6,-2 2,-3-5,-1 2,5 0,0-2,0 2,7-3,-6 0,11 0,-8 0,1 0,-6-3,0 2,-2-5,2 5,-7-4,0 4,-4-4,4 1,-3 0,6-1,-6 1,3-2,-6 0,7-3,-9 2,9-2,-11 6,3-2,0-1,-3-1,0-10,-3 3,-3-8,0-2,0 0,-4-8,0 0,0-5,-2-4,5 4,-3-4,4 4,0 4,3 5,1 1,3 7,2 0,-2 4,2 0,-3 3,-2-2,5-1,-5 3,6-10,-4 6,1-10,0-1,0-1,0-7,0 4,1-5,-1 4,-3 2,2 6,-5 2,2 3,-3 4,0 0,0 4,0 0,0 2,2-1,-1 1,2-4,-3 1,0-2,0-1,0-1,0-2,0-5,3 0,-3-7,4 2,-1-7,-2 3,2-7,-3 2,0-7,0 7,0-7,0 7,-3-7,-2 7,-2-3,0 0,-1-1,0-4,1 0,2 0,-1-5,1 3,1-7,-3 8,3-9,-4 4,0 0,0-24,4 24,0-16,4 31,0 6,3 10,-3-2,6 13,-6-5,3 6,-3-4,0 4,0-3,0 3,0-4,3 1,0-1,1 4,1-3,-1 3,-1-1,3-1,-3 1,0-2,0 0,-3 0,3-1,-3-6,3 2,0-10,-2 2,5-6,-2 2,4-11,-4 6,3-11,-7 3,4 0,-4-3,0 7,-3-7,-2 7,1-3,-2 1,5 2,-6-3,6 8,-2 2,0 3,-1 4,0 0,-1 8,4 0,-4 7,4 0,-6 0,5 0,-6-6,8 5,-6-7,5 6,-4-7,1 1,0-3,-5-3,5-1,-9-4,5 0,-5-3,5-2,-6-4,6 1,-6-1,6 4,-2-2,3 6,-1-7,2 11,-2-6,5 7,-3-4,5 1,-5-5,5-1,-6-4,6 1,-5-1,2-4,-4 4,1-9,-1 9,1-4,0 4,-1 1,1 3,0 1,0-1,1 14,3-2,0 15,0 0,0-7,-3 2,3-3,-2 2,4 6,-4-6,1 3,-1 0,-4-2,3 5,-6-9,3 5,-4-9,0 2,0-2,0-5,-4 3,-4-6,-5 4,-3-2,0 0,-1 2,1-2,-4-1,-6-2,0 1,-3-4,9 12,4-2,6 7,6 1,2 4,-1-1,3 4,0 0,5 0,2 0,-5 3,1 3,-4 1,1 1,-2-2,-2 0,-2 3,-1-2,0 2,4-3,0 0,7 0,-8 0,6-3,-11-3,2-5,-4-6,-8 2,5-6,0 7,7 0,0 1,1 6,2-5,2 5,2-5,1 3,0-4,2 4,-1 0,1 0,-2 2,0-2,-1 0,-2-1,-5-3,-8-1,-5 0,-8-1,-5-1,-11 0,-11-1,4-3,-3 3,30 2,8 8,21 4,2 3,-15 0,-2 0,-15 0,-7 0,-3-3,-13-2,-7-3,-12-5,-1 3,19-3,21 9,25 0,4 7,-9-2,-17 2,-25-3,-14-4,26 1,-2 0,-4-1,0-2,-7 1,-1 0,-2 0,-1 0,7 2,0 0,1-2,2 1,-42 3,13-3,8 0,16 3,11-3,14 1,14 2,11-1,5 2,-1-3,-13-4,0 0,-19-7,3 2,-13 0,-1 0,-10 0,0 3,-11-3,-2-1,6 3,-3 2,9 0,5 0,-2-1,13-2,0 3,6 1,9 3,0-3,11 4,-1-4,9 1,-3 2,4-1,-1 1,1 1,0-3,-4 3,0-4,-7-3,-6 3,-3-7,-5 6,1-6,-1 6,1-3,-1 7,4 1,5 3,5 0,-5 0,9 0,-5 0,12 0,-4 0,3 0,0 0,2 0,-1 0,2 0,-7 0,7 0,-5 0,3 0,-4 0,-4 0,0 0,-7-3,-1 2,-1-2,-7 3,4 0,-1 0,2 0,3 0,4 0,4 0,4 0,7 0,-3-5,8-8,-4-4,2-4,-7 4,-1-2,-6 2,7 0,0 1,4 4,3 2,2-2,-1 0,4-1,-1-2,2 3,0-4,0 3,-3-3,2 4,-4 0,1-1,1 1,-2-1,1 1,-2 3,0-3,0 5,0-4,-3 1,3-2,-9-1,4-3,-5 0,0-5,-2 1,1 0,1 3,6 1,1 4,3-4,-1 3,1-3,0 1,3 5,-2 1,-1 1,-7 4,-3-8,-7 2,3-3,-7-1,3 0,-4 0,4 1,4 2,4-1,7 6,0-3,3 3,1-2,-4 1,3-4,-2 5,2-3,-2 3,-1 0,0 1,-2 1,10-10,-1 3,9-11,-1 2,1 3,-1 5,-3 6,0 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3B21E-190F-9A49-AF5D-D86B3A970347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A758C-A4A5-EE46-B16B-9AA4FF970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7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Check article for Charles for additional things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E335F-6B58-4BAC-AAD9-EC2E6DC715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3" panose="020B0503030403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3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410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had about 94 applicants from 14 schools (2 R1, 4 private, 7 community colleges)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E335F-6B58-4BAC-AAD9-EC2E6DC715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3" panose="020B0503030403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3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958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5101-069E-3250-7C11-F53EDBF77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1CF9E-08F4-973F-5C9B-7E521F86E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E7956-F43A-A8E9-3EA3-4A9753605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84D0A-A922-834F-9942-0657DCC0D9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E335F-6B58-4BAC-AAD9-EC2E6DC715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3" panose="020B0503030403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3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768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you have a government ID (drivers license, passport), Have you signed up to carpool with someone?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E335F-6B58-4BAC-AAD9-EC2E6DC7157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3" panose="020B0503030403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3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758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383969" y="709644"/>
            <a:ext cx="114240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 cap="all" baseline="0">
                <a:solidFill>
                  <a:srgbClr val="002060"/>
                </a:solidFill>
                <a:latin typeface="Source Sans 3 Semibold" panose="020B0503030403020204" pitchFamily="34" charset="0"/>
              </a:rPr>
              <a:t>Presentation</a:t>
            </a:r>
            <a:r>
              <a:rPr lang="en-US" sz="6600" b="1" i="0" cap="all">
                <a:solidFill>
                  <a:srgbClr val="002060"/>
                </a:solidFill>
                <a:latin typeface="Source Sans 3 Semibold" panose="020B0503030403020204" pitchFamily="34" charset="0"/>
              </a:rPr>
              <a:t>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2338648" y="1864885"/>
            <a:ext cx="751470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8D9A76-764D-4243-BE8A-AFC03BBA71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649" y="2139210"/>
            <a:ext cx="7514704" cy="25007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Source Sans 3" panose="020B0503030403020204" pitchFamily="34" charset="0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en-US"/>
              <a:t>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purus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.</a:t>
            </a:r>
          </a:p>
        </p:txBody>
      </p:sp>
      <p:pic>
        <p:nvPicPr>
          <p:cNvPr id="2" name="Picture 1" descr="A black and blue sign with blue text&#10;&#10;Description automatically generated">
            <a:extLst>
              <a:ext uri="{FF2B5EF4-FFF2-40B4-BE49-F238E27FC236}">
                <a16:creationId xmlns:a16="http://schemas.microsoft.com/office/drawing/2014/main" id="{F6EE5595-4700-527B-086B-AEC40895A0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31" y="5590466"/>
            <a:ext cx="3044698" cy="79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83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4C5D952-7020-4B33-84F7-CBC1B869B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810" y="1114428"/>
            <a:ext cx="5219169" cy="8302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068A40-1D69-47F3-AA7E-9CA2BC3F38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1" y="4511176"/>
            <a:ext cx="5235550" cy="13364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add additional info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42910E7-43EF-44FD-A4C0-9AECABD8C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1" y="3507165"/>
            <a:ext cx="5240310" cy="624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/>
              <a:t>Title of presenter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1D283C1-F316-43F0-BDE2-800E11D4B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240" y="2556086"/>
            <a:ext cx="5240310" cy="4790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800" b="0" i="0" cap="all" baseline="0">
                <a:solidFill>
                  <a:srgbClr val="002060"/>
                </a:solidFill>
                <a:latin typeface="Source Sans 3 Semibold" panose="020B0503030403020204" pitchFamily="34" charset="0"/>
              </a:defRPr>
            </a:lvl1pPr>
          </a:lstStyle>
          <a:p>
            <a:pPr lvl="0"/>
            <a:r>
              <a:rPr lang="en-US"/>
              <a:t>First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C1223FDD-7488-4253-8BC8-8FEC76158A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240" y="3027689"/>
            <a:ext cx="5240310" cy="4790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800" b="0" i="0" cap="all" baseline="0">
                <a:solidFill>
                  <a:srgbClr val="002060"/>
                </a:solidFill>
                <a:latin typeface="Source Sans 3 Semibold" panose="020B0503030403020204" pitchFamily="34" charset="0"/>
              </a:defRPr>
            </a:lvl1pPr>
          </a:lstStyle>
          <a:p>
            <a:pPr lvl="0"/>
            <a:r>
              <a:rPr lang="en-US"/>
              <a:t>Last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81CFAB-6E89-DB44-BE09-32E905D91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25484" y="1114428"/>
            <a:ext cx="5985516" cy="47017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D518BF1B-32A6-9D47-93A2-A5E48DB86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10" y="503033"/>
            <a:ext cx="10515600" cy="56991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0EBDA6E4-77F4-A64D-89B8-E757AE4EAE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5902" y="6356350"/>
            <a:ext cx="7935098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</a:lstStyle>
          <a:p>
            <a:r>
              <a:rPr lang="en-US"/>
              <a:t>     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D96C5DD-3C5E-0B4F-829A-6F347372DF4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1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F61195-A0F3-2E4F-BC0B-8D1AD1E2E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8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8D6F-B8D2-8645-91DD-AFAD33847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1104258"/>
            <a:ext cx="11086475" cy="88942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6200"/>
              </a:lnSpc>
              <a:defRPr sz="60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82B6-B14E-2840-9894-155B86AF14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30132"/>
            <a:ext cx="9107774" cy="3523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urce Sans 3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B10EEF6-A19D-EF4F-8170-16C700AD6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C5245B-7C5E-1B46-B288-83FE7ADFC2F0}"/>
              </a:ext>
            </a:extLst>
          </p:cNvPr>
          <p:cNvCxnSpPr>
            <a:cxnSpLocks/>
          </p:cNvCxnSpPr>
          <p:nvPr userDrawn="1"/>
        </p:nvCxnSpPr>
        <p:spPr>
          <a:xfrm>
            <a:off x="380999" y="2010937"/>
            <a:ext cx="751470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46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1AD790-EE4B-A26D-4A1B-5AAC01BB3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975361"/>
            <a:ext cx="12192001" cy="4064999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txBody>
          <a:bodyPr anchor="ctr" anchorCtr="0"/>
          <a:lstStyle>
            <a:lvl1pPr algn="ctr">
              <a:lnSpc>
                <a:spcPts val="6200"/>
              </a:lnSpc>
              <a:defRPr sz="6000" b="1" i="0">
                <a:solidFill>
                  <a:schemeClr val="bg1"/>
                </a:solidFill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5602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12F4-9ACB-D749-A463-6EF93D944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C5217-C058-314A-A904-8613DFB634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825625"/>
            <a:ext cx="10515600" cy="412547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b="0" i="0">
                <a:latin typeface="Source Sans 3" panose="020B0503030403020204" pitchFamily="34" charset="0"/>
              </a:defRPr>
            </a:lvl1pPr>
            <a:lvl2pPr>
              <a:spcBef>
                <a:spcPts val="1000"/>
              </a:spcBef>
              <a:spcAft>
                <a:spcPts val="800"/>
              </a:spcAft>
              <a:defRPr b="0" i="0">
                <a:latin typeface="Source Sans 3" panose="020B0503030403020204" pitchFamily="34" charset="0"/>
              </a:defRPr>
            </a:lvl2pPr>
            <a:lvl3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3pPr>
            <a:lvl4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4pPr>
            <a:lvl5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F45A2E2-F84B-3B4D-9847-EB91160C5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2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57EA-33AB-6E4E-8AE6-C519F2C70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5D000-96C4-3146-A271-C3F0018F06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1825625"/>
            <a:ext cx="5439032" cy="409326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340DB-97D6-6943-B475-09348084E3A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825625"/>
            <a:ext cx="5715000" cy="409326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DA248AA-651E-1C47-ACCF-5BA8CBD36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1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5D1D-0BAC-9D44-92DF-2FAC5F1F8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8388F-D839-F04B-8146-F18EC1F5918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681163"/>
            <a:ext cx="5550243" cy="6573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0" i="0" cap="all" baseline="0">
                <a:latin typeface="Source Sans 3 Semibold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5DF2D-0CB8-8048-932F-27A74B3869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2505075"/>
            <a:ext cx="5550243" cy="34261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FE60E-047E-DA43-8341-0EAA48D9EE9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638800" cy="6573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0" i="0" cap="all" baseline="0">
                <a:latin typeface="Source Sans 3 Semibold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F4DAB-13B0-C64B-9B88-510DBA6D3D8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638800" cy="34261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55864F4-8E80-A249-9817-B55038EB96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6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1BE4-CFAD-BC43-936B-79A89D2D90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559088"/>
            <a:ext cx="11430000" cy="982861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D422E8-E84E-0149-880E-D3C6927AC7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4302" y="2008683"/>
            <a:ext cx="9878336" cy="36872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en-US"/>
              <a:t>Click to edit highlight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7FD42D-4EBF-8140-92AE-0F63EFA73492}"/>
              </a:ext>
            </a:extLst>
          </p:cNvPr>
          <p:cNvCxnSpPr>
            <a:cxnSpLocks/>
          </p:cNvCxnSpPr>
          <p:nvPr userDrawn="1"/>
        </p:nvCxnSpPr>
        <p:spPr>
          <a:xfrm>
            <a:off x="838200" y="2008683"/>
            <a:ext cx="0" cy="367449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CD66BB-3877-3245-81D3-AAD0AF3CDAD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77F59FA7-9E35-E641-9260-462B0A5FC6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45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9428-DA8C-2046-9013-4C44E7557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>
              <a:defRPr b="1" i="0" cap="all" baseline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9585CAF-7D25-E243-9B53-4E687CFDC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4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20D8-6935-1A43-8CF0-66FC6338B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01" y="457200"/>
            <a:ext cx="4387121" cy="1600200"/>
          </a:xfrm>
          <a:prstGeom prst="rect">
            <a:avLst/>
          </a:prstGeom>
        </p:spPr>
        <p:txBody>
          <a:bodyPr anchor="t"/>
          <a:lstStyle>
            <a:lvl1pPr>
              <a:lnSpc>
                <a:spcPts val="3200"/>
              </a:lnSpc>
              <a:defRPr sz="32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0CDB-9C52-9346-A61D-22B158D8F9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7" y="457200"/>
            <a:ext cx="6601511" cy="5403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Source Sans 3" panose="020B0503030403020204" pitchFamily="34" charset="0"/>
              </a:defRPr>
            </a:lvl1pPr>
            <a:lvl2pPr>
              <a:defRPr sz="2800" b="0" i="0">
                <a:latin typeface="Source Sans 3" panose="020B0503030403020204" pitchFamily="34" charset="0"/>
              </a:defRPr>
            </a:lvl2pPr>
            <a:lvl3pPr>
              <a:defRPr sz="2400" b="0" i="0">
                <a:latin typeface="Source Sans 3" panose="020B0503030403020204" pitchFamily="34" charset="0"/>
              </a:defRPr>
            </a:lvl3pPr>
            <a:lvl4pPr>
              <a:defRPr sz="2000" b="0" i="0">
                <a:latin typeface="Source Sans 3" panose="020B0503030403020204" pitchFamily="34" charset="0"/>
              </a:defRPr>
            </a:lvl4pPr>
            <a:lvl5pPr>
              <a:defRPr sz="2000" b="0" i="0">
                <a:latin typeface="Source Sans 3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70D2D-8242-384D-A978-71066F7E193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301" y="2057400"/>
            <a:ext cx="4387121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ource Sans 3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9A92EF9-4388-E64C-AE2E-5DD2230C10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82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AFDE-CE73-E140-AEC8-2C7D74ACA9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02" y="457200"/>
            <a:ext cx="4387120" cy="1600200"/>
          </a:xfrm>
          <a:prstGeom prst="rect">
            <a:avLst/>
          </a:prstGeom>
        </p:spPr>
        <p:txBody>
          <a:bodyPr anchor="t"/>
          <a:lstStyle>
            <a:lvl1pPr>
              <a:lnSpc>
                <a:spcPts val="3200"/>
              </a:lnSpc>
              <a:defRPr sz="32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262F9-39B5-2A48-B7A0-306F146CD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627812" cy="540385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4CFF9-2C81-2040-9460-7970314A63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302" y="2057400"/>
            <a:ext cx="438712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ource Sans 3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F936C29-D718-AB47-8939-07EEA4D73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4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86558" y="1965960"/>
            <a:ext cx="5491140" cy="3880204"/>
          </a:xfrm>
          <a:prstGeom prst="rect">
            <a:avLst/>
          </a:prstGeom>
        </p:spPr>
        <p:txBody>
          <a:bodyPr/>
          <a:lstStyle>
            <a:lvl1pPr marL="2286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14303" y="1965960"/>
            <a:ext cx="5491141" cy="3880204"/>
          </a:xfrm>
          <a:prstGeom prst="rect">
            <a:avLst/>
          </a:prstGeom>
        </p:spPr>
        <p:txBody>
          <a:bodyPr/>
          <a:lstStyle>
            <a:lvl1pPr marL="2286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24444" cy="132556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7ABC-58B1-2B44-9AE4-0F3296E88B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66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86558" y="1965960"/>
            <a:ext cx="5491140" cy="3640361"/>
          </a:xfrm>
          <a:prstGeom prst="rect">
            <a:avLst/>
          </a:prstGeom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14303" y="1965960"/>
            <a:ext cx="5491141" cy="3640361"/>
          </a:xfrm>
          <a:prstGeom prst="rect">
            <a:avLst/>
          </a:prstGeom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24444" cy="132556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7ABC-58B1-2B44-9AE4-0F3296E88B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34983-CD69-EF4D-9EF3-EB2110B4AF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5607050"/>
            <a:ext cx="5491140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E171EF-F7CC-354F-9CD9-4DDEECEB4F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4303" y="5607050"/>
            <a:ext cx="5491140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</p:spTree>
    <p:extLst>
      <p:ext uri="{BB962C8B-B14F-4D97-AF65-F5344CB8AC3E}">
        <p14:creationId xmlns:p14="http://schemas.microsoft.com/office/powerpoint/2010/main" val="3648677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558977"/>
            <a:ext cx="4292326" cy="4302177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558977"/>
            <a:ext cx="3224888" cy="4302177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8DF7-5E02-1A46-8F8F-7E735BA9F5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B7A6DA-4DC8-304B-B583-7CC4064FDF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1000" y="1558925"/>
            <a:ext cx="3224888" cy="430212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76431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558978"/>
            <a:ext cx="3224888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558978"/>
            <a:ext cx="4292326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558978"/>
            <a:ext cx="3224888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8DF7-5E02-1A46-8F8F-7E735BA9F5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A387CA8-2BFC-514C-8463-0244B7A200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756" y="5607050"/>
            <a:ext cx="3224888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9CD173F-9443-154B-A211-586A9B01DF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4437" y="5607050"/>
            <a:ext cx="4292326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3393AB0-90E1-EB4C-9F92-469ECB0E4C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0556" y="5607050"/>
            <a:ext cx="3224888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</p:spTree>
    <p:extLst>
      <p:ext uri="{BB962C8B-B14F-4D97-AF65-F5344CB8AC3E}">
        <p14:creationId xmlns:p14="http://schemas.microsoft.com/office/powerpoint/2010/main" val="1200186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3305969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276182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9246395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BB85-8254-264A-ADC9-F329B2CAF9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79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690688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690688"/>
            <a:ext cx="4292326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690688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10DC94B-F063-2243-A82D-16ADBAF8AD5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757" y="3929449"/>
            <a:ext cx="4292326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DDAF7424-F60C-6A47-AB76-59580353DE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1875" y="3929449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9621BFD-9F1D-1E4A-A859-9E916E1EF07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80555" y="3929449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BA7123A-ECE0-244E-9B1F-9369CDAA40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7964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867995-5DA7-0E46-92C1-17D3FB36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141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63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9487" y="3250540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OSC.EDU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QUESTIONS?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ack and blue sign with blue text&#10;&#10;Description automatically generated">
            <a:extLst>
              <a:ext uri="{FF2B5EF4-FFF2-40B4-BE49-F238E27FC236}">
                <a16:creationId xmlns:a16="http://schemas.microsoft.com/office/drawing/2014/main" id="{0EFFAC00-DDC2-283E-4B3F-BEBCAAEE4A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31" y="5590466"/>
            <a:ext cx="3044698" cy="79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454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blue sign with blue text&#10;&#10;Description automatically generated">
            <a:extLst>
              <a:ext uri="{FF2B5EF4-FFF2-40B4-BE49-F238E27FC236}">
                <a16:creationId xmlns:a16="http://schemas.microsoft.com/office/drawing/2014/main" id="{D5D2DBF0-E8E7-DBFB-60C8-41F9CCAF52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31" y="5590466"/>
            <a:ext cx="3044698" cy="7920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9487" y="3250540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WILL BEGIN SHORTLY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WELCOME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6026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0251" y="3244334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OSC.EDU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blue sign with blue text&#10;&#10;Description automatically generated">
            <a:extLst>
              <a:ext uri="{FF2B5EF4-FFF2-40B4-BE49-F238E27FC236}">
                <a16:creationId xmlns:a16="http://schemas.microsoft.com/office/drawing/2014/main" id="{F5D79E15-8926-797A-1CBF-02F5AF1039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31" y="5590466"/>
            <a:ext cx="3044698" cy="79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80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3701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9155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019F13-D402-C2BE-894F-DC9D2CEE2060}"/>
              </a:ext>
            </a:extLst>
          </p:cNvPr>
          <p:cNvSpPr txBox="1"/>
          <p:nvPr userDrawn="1"/>
        </p:nvSpPr>
        <p:spPr>
          <a:xfrm>
            <a:off x="4064001" y="6289964"/>
            <a:ext cx="3916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>
                <a:solidFill>
                  <a:srgbClr val="0E3F75"/>
                </a:solidFill>
                <a:latin typeface="Source Sans 3" panose="020B0503030403020204" pitchFamily="34" charset="0"/>
              </a:rPr>
              <a:t>OSC.EDU</a:t>
            </a:r>
          </a:p>
        </p:txBody>
      </p:sp>
    </p:spTree>
    <p:extLst>
      <p:ext uri="{BB962C8B-B14F-4D97-AF65-F5344CB8AC3E}">
        <p14:creationId xmlns:p14="http://schemas.microsoft.com/office/powerpoint/2010/main" val="3747174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12F4-9ACB-D749-A463-6EF93D944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C5217-C058-314A-A904-8613DFB634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825625"/>
            <a:ext cx="10515600" cy="412547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b="0" i="0">
                <a:latin typeface="Source Sans 3" panose="020B0503030403020204" pitchFamily="34" charset="0"/>
              </a:defRPr>
            </a:lvl1pPr>
            <a:lvl2pPr>
              <a:spcBef>
                <a:spcPts val="1000"/>
              </a:spcBef>
              <a:spcAft>
                <a:spcPts val="800"/>
              </a:spcAft>
              <a:defRPr b="0" i="0">
                <a:latin typeface="Source Sans 3" panose="020B0503030403020204" pitchFamily="34" charset="0"/>
              </a:defRPr>
            </a:lvl2pPr>
            <a:lvl3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3pPr>
            <a:lvl4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4pPr>
            <a:lvl5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F45A2E2-F84B-3B4D-9847-EB91160C5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415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9428-DA8C-2046-9013-4C44E7557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>
              <a:defRPr b="1" i="0" cap="all" baseline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9585CAF-7D25-E243-9B53-4E687CFDC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493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2338648" y="1864885"/>
            <a:ext cx="751470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8D9A76-764D-4243-BE8A-AFC03BBA71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649" y="2139210"/>
            <a:ext cx="7514704" cy="250070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Source Sans 3" panose="020B0503030403020204" pitchFamily="34" charset="0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en-US"/>
              <a:t>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purus</a:t>
            </a:r>
            <a:r>
              <a:rPr lang="en-US"/>
              <a:t>.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.</a:t>
            </a:r>
          </a:p>
        </p:txBody>
      </p:sp>
      <p:pic>
        <p:nvPicPr>
          <p:cNvPr id="2" name="Picture 1" descr="A black and blue sign with blue text&#10;&#10;Description automatically generated">
            <a:extLst>
              <a:ext uri="{FF2B5EF4-FFF2-40B4-BE49-F238E27FC236}">
                <a16:creationId xmlns:a16="http://schemas.microsoft.com/office/drawing/2014/main" id="{F6EE5595-4700-527B-086B-AEC40895A0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631" y="5590466"/>
            <a:ext cx="3044698" cy="79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751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4C5D952-7020-4B33-84F7-CBC1B869BB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810" y="1114428"/>
            <a:ext cx="5219169" cy="8302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3068A40-1D69-47F3-AA7E-9CA2BC3F38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1" y="4511176"/>
            <a:ext cx="5235550" cy="13364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add additional info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42910E7-43EF-44FD-A4C0-9AECABD8CC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001" y="3507165"/>
            <a:ext cx="5240310" cy="624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  <a:ea typeface="Source Serif Pro" panose="02040603050405020204" pitchFamily="18" charset="0"/>
              </a:defRPr>
            </a:lvl1pPr>
          </a:lstStyle>
          <a:p>
            <a:pPr lvl="0"/>
            <a:r>
              <a:rPr lang="en-US"/>
              <a:t>Title of presenter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1D283C1-F316-43F0-BDE2-800E11D4BF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240" y="2556086"/>
            <a:ext cx="5240310" cy="4790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800" b="0" i="0" cap="all" baseline="0">
                <a:solidFill>
                  <a:srgbClr val="002060"/>
                </a:solidFill>
                <a:latin typeface="Source Sans 3 Semibold" panose="020B0503030403020204" pitchFamily="34" charset="0"/>
              </a:defRPr>
            </a:lvl1pPr>
          </a:lstStyle>
          <a:p>
            <a:pPr lvl="0"/>
            <a:r>
              <a:rPr lang="en-US"/>
              <a:t>First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C1223FDD-7488-4253-8BC8-8FEC76158A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240" y="3027689"/>
            <a:ext cx="5240310" cy="4790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800" b="0" i="0" cap="all" baseline="0">
                <a:solidFill>
                  <a:srgbClr val="002060"/>
                </a:solidFill>
                <a:latin typeface="Source Sans 3 Semibold" panose="020B0503030403020204" pitchFamily="34" charset="0"/>
              </a:defRPr>
            </a:lvl1pPr>
          </a:lstStyle>
          <a:p>
            <a:pPr lvl="0"/>
            <a:r>
              <a:rPr lang="en-US"/>
              <a:t>Last Name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81CFAB-6E89-DB44-BE09-32E905D91A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25484" y="1114428"/>
            <a:ext cx="5985516" cy="47017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D518BF1B-32A6-9D47-93A2-A5E48DB86C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10" y="503033"/>
            <a:ext cx="10515600" cy="56991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presentation title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0EBDA6E4-77F4-A64D-89B8-E757AE4EAE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5902" y="6356350"/>
            <a:ext cx="7935098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</a:lstStyle>
          <a:p>
            <a:r>
              <a:rPr lang="en-US"/>
              <a:t>      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D96C5DD-3C5E-0B4F-829A-6F347372DF4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15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DF61195-A0F3-2E4F-BC0B-8D1AD1E2E5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038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8D6F-B8D2-8645-91DD-AFAD33847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1104258"/>
            <a:ext cx="11086475" cy="88942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6200"/>
              </a:lnSpc>
              <a:defRPr sz="60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82B6-B14E-2840-9894-155B86AF14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30132"/>
            <a:ext cx="9107774" cy="35236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Source Sans 3" panose="020B0503030403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B10EEF6-A19D-EF4F-8170-16C700AD67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7C5245B-7C5E-1B46-B288-83FE7ADFC2F0}"/>
              </a:ext>
            </a:extLst>
          </p:cNvPr>
          <p:cNvCxnSpPr>
            <a:cxnSpLocks/>
          </p:cNvCxnSpPr>
          <p:nvPr userDrawn="1"/>
        </p:nvCxnSpPr>
        <p:spPr>
          <a:xfrm>
            <a:off x="380999" y="2010937"/>
            <a:ext cx="751470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07727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1AD790-EE4B-A26D-4A1B-5AAC01BB3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975361"/>
            <a:ext cx="12192001" cy="4064999"/>
          </a:xfrm>
          <a:prstGeom prst="rect">
            <a:avLst/>
          </a:prstGeom>
          <a:solidFill>
            <a:schemeClr val="tx2"/>
          </a:solidFill>
          <a:ln w="47625">
            <a:noFill/>
          </a:ln>
        </p:spPr>
        <p:txBody>
          <a:bodyPr anchor="ctr" anchorCtr="0"/>
          <a:lstStyle>
            <a:lvl1pPr algn="ctr">
              <a:lnSpc>
                <a:spcPts val="6200"/>
              </a:lnSpc>
              <a:defRPr sz="6000" b="1" i="0">
                <a:solidFill>
                  <a:schemeClr val="bg1"/>
                </a:solidFill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5914792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12F4-9ACB-D749-A463-6EF93D944A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C5217-C058-314A-A904-8613DFB634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1000" y="1825625"/>
            <a:ext cx="10515600" cy="412547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Font typeface="Arial" panose="020B0604020202020204" pitchFamily="34" charset="0"/>
              <a:buChar char="•"/>
              <a:defRPr b="0" i="0">
                <a:latin typeface="Source Sans 3" panose="020B0503030403020204" pitchFamily="34" charset="0"/>
              </a:defRPr>
            </a:lvl1pPr>
            <a:lvl2pPr>
              <a:spcBef>
                <a:spcPts val="1000"/>
              </a:spcBef>
              <a:spcAft>
                <a:spcPts val="800"/>
              </a:spcAft>
              <a:defRPr b="0" i="0">
                <a:latin typeface="Source Sans 3" panose="020B0503030403020204" pitchFamily="34" charset="0"/>
              </a:defRPr>
            </a:lvl2pPr>
            <a:lvl3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3pPr>
            <a:lvl4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4pPr>
            <a:lvl5pPr>
              <a:spcBef>
                <a:spcPts val="1000"/>
              </a:spcBef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F45A2E2-F84B-3B4D-9847-EB91160C5E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037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57EA-33AB-6E4E-8AE6-C519F2C70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5D000-96C4-3146-A271-C3F0018F06F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1000" y="1825625"/>
            <a:ext cx="5439032" cy="409326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340DB-97D6-6943-B475-09348084E3A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825625"/>
            <a:ext cx="5715000" cy="409326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DA248AA-651E-1C47-ACCF-5BA8CBD36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097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5D1D-0BAC-9D44-92DF-2FAC5F1F8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 algn="l"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8388F-D839-F04B-8146-F18EC1F5918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681163"/>
            <a:ext cx="5550243" cy="6573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0" i="0" cap="all" baseline="0">
                <a:latin typeface="Source Sans 3 Semibold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5DF2D-0CB8-8048-932F-27A74B3869B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2505075"/>
            <a:ext cx="5550243" cy="34261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FE60E-047E-DA43-8341-0EAA48D9EE9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638800" cy="65730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400" b="0" i="0" cap="all" baseline="0">
                <a:latin typeface="Source Sans 3 Semibold" panose="020B0503030403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F4DAB-13B0-C64B-9B88-510DBA6D3D8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638800" cy="34261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</a:defRPr>
            </a:lvl1pPr>
            <a:lvl2pPr>
              <a:defRPr b="0" i="0">
                <a:latin typeface="Source Sans 3" panose="020B0503030403020204" pitchFamily="34" charset="0"/>
              </a:defRPr>
            </a:lvl2pPr>
            <a:lvl3pPr>
              <a:defRPr b="0" i="0">
                <a:latin typeface="Source Sans 3" panose="020B0503030403020204" pitchFamily="34" charset="0"/>
              </a:defRPr>
            </a:lvl3pPr>
            <a:lvl4pPr>
              <a:defRPr b="0" i="0">
                <a:latin typeface="Source Sans 3" panose="020B0503030403020204" pitchFamily="34" charset="0"/>
              </a:defRPr>
            </a:lvl4pPr>
            <a:lvl5pPr>
              <a:defRPr b="0" i="0">
                <a:latin typeface="Source Sans 3" panose="020B0503030403020204" pitchFamily="34" charset="0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55864F4-8E80-A249-9817-B55038EB96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96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1BE4-CFAD-BC43-936B-79A89D2D90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559088"/>
            <a:ext cx="11430000" cy="982861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D422E8-E84E-0149-880E-D3C6927AC7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4302" y="2008683"/>
            <a:ext cx="9878336" cy="368726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48640" indent="0">
              <a:buNone/>
              <a:defRPr/>
            </a:lvl2pPr>
          </a:lstStyle>
          <a:p>
            <a:pPr lvl="0"/>
            <a:r>
              <a:rPr lang="en-US"/>
              <a:t>Click to edit highlight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7FD42D-4EBF-8140-92AE-0F63EFA73492}"/>
              </a:ext>
            </a:extLst>
          </p:cNvPr>
          <p:cNvCxnSpPr>
            <a:cxnSpLocks/>
          </p:cNvCxnSpPr>
          <p:nvPr userDrawn="1"/>
        </p:nvCxnSpPr>
        <p:spPr>
          <a:xfrm>
            <a:off x="838200" y="2008683"/>
            <a:ext cx="0" cy="3674496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9CD66BB-3877-3245-81D3-AAD0AF3CDAD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77F59FA7-9E35-E641-9260-462B0A5FC6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880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9428-DA8C-2046-9013-4C44E7557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30000" cy="1325563"/>
          </a:xfrm>
          <a:prstGeom prst="rect">
            <a:avLst/>
          </a:prstGeom>
        </p:spPr>
        <p:txBody>
          <a:bodyPr anchor="t"/>
          <a:lstStyle>
            <a:lvl1pPr>
              <a:defRPr b="1" i="0" cap="all" baseline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9585CAF-7D25-E243-9B53-4E687CFDCD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979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20D8-6935-1A43-8CF0-66FC6338B1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01" y="457200"/>
            <a:ext cx="4387121" cy="1600200"/>
          </a:xfrm>
          <a:prstGeom prst="rect">
            <a:avLst/>
          </a:prstGeom>
        </p:spPr>
        <p:txBody>
          <a:bodyPr anchor="t"/>
          <a:lstStyle>
            <a:lvl1pPr>
              <a:lnSpc>
                <a:spcPts val="3200"/>
              </a:lnSpc>
              <a:defRPr sz="32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00CDB-9C52-9346-A61D-22B158D8F9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7" y="457200"/>
            <a:ext cx="6601511" cy="5403850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Source Sans 3" panose="020B0503030403020204" pitchFamily="34" charset="0"/>
              </a:defRPr>
            </a:lvl1pPr>
            <a:lvl2pPr>
              <a:defRPr sz="2800" b="0" i="0">
                <a:latin typeface="Source Sans 3" panose="020B0503030403020204" pitchFamily="34" charset="0"/>
              </a:defRPr>
            </a:lvl2pPr>
            <a:lvl3pPr>
              <a:defRPr sz="2400" b="0" i="0">
                <a:latin typeface="Source Sans 3" panose="020B0503030403020204" pitchFamily="34" charset="0"/>
              </a:defRPr>
            </a:lvl3pPr>
            <a:lvl4pPr>
              <a:defRPr sz="2000" b="0" i="0">
                <a:latin typeface="Source Sans 3" panose="020B0503030403020204" pitchFamily="34" charset="0"/>
              </a:defRPr>
            </a:lvl4pPr>
            <a:lvl5pPr>
              <a:defRPr sz="2000" b="0" i="0">
                <a:latin typeface="Source Sans 3" panose="020B0503030403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70D2D-8242-384D-A978-71066F7E193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301" y="2057400"/>
            <a:ext cx="4387121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ource Sans 3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9A92EF9-4388-E64C-AE2E-5DD2230C10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3241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8AFDE-CE73-E140-AEC8-2C7D74ACA9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302" y="457200"/>
            <a:ext cx="4387120" cy="1600200"/>
          </a:xfrm>
          <a:prstGeom prst="rect">
            <a:avLst/>
          </a:prstGeom>
        </p:spPr>
        <p:txBody>
          <a:bodyPr anchor="t"/>
          <a:lstStyle>
            <a:lvl1pPr>
              <a:lnSpc>
                <a:spcPts val="3200"/>
              </a:lnSpc>
              <a:defRPr sz="3200"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262F9-39B5-2A48-B7A0-306F146CD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627812" cy="5403850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4CFF9-2C81-2040-9460-7970314A63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07302" y="2057400"/>
            <a:ext cx="438712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ource Sans 3" panose="020B0503030403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F936C29-D718-AB47-8939-07EEA4D73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397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86558" y="1965960"/>
            <a:ext cx="5491140" cy="3880204"/>
          </a:xfrm>
          <a:prstGeom prst="rect">
            <a:avLst/>
          </a:prstGeom>
        </p:spPr>
        <p:txBody>
          <a:bodyPr/>
          <a:lstStyle>
            <a:lvl1pPr marL="2286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14303" y="1965960"/>
            <a:ext cx="5491141" cy="3880204"/>
          </a:xfrm>
          <a:prstGeom prst="rect">
            <a:avLst/>
          </a:prstGeom>
        </p:spPr>
        <p:txBody>
          <a:bodyPr/>
          <a:lstStyle>
            <a:lvl1pPr marL="2286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24444" cy="132556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7ABC-58B1-2B44-9AE4-0F3296E88B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060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386558" y="1965960"/>
            <a:ext cx="5491140" cy="3640361"/>
          </a:xfrm>
          <a:prstGeom prst="rect">
            <a:avLst/>
          </a:prstGeom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6314303" y="1965960"/>
            <a:ext cx="5491141" cy="3640361"/>
          </a:xfrm>
          <a:prstGeom prst="rect">
            <a:avLst/>
          </a:prstGeom>
        </p:spPr>
        <p:txBody>
          <a:bodyPr/>
          <a:lstStyle>
            <a:lvl1pPr marL="571500" marR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5715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2400"/>
              </a:spcAft>
              <a:buClr>
                <a:schemeClr val="accent1"/>
              </a:buClr>
              <a:buSzPct val="110000"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365125"/>
            <a:ext cx="11424444" cy="1325563"/>
          </a:xfrm>
        </p:spPr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A7ABC-58B1-2B44-9AE4-0F3296E88B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34983-CD69-EF4D-9EF3-EB2110B4AF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1000" y="5607050"/>
            <a:ext cx="5491140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E171EF-F7CC-354F-9CD9-4DDEECEB4F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14303" y="5607050"/>
            <a:ext cx="5491140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</p:spTree>
    <p:extLst>
      <p:ext uri="{BB962C8B-B14F-4D97-AF65-F5344CB8AC3E}">
        <p14:creationId xmlns:p14="http://schemas.microsoft.com/office/powerpoint/2010/main" val="7759570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558977"/>
            <a:ext cx="4292326" cy="4302177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558977"/>
            <a:ext cx="3224888" cy="4302177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Source Sans 3 Semibold" panose="020B0503030403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8DF7-5E02-1A46-8F8F-7E735BA9F5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FB7A6DA-4DC8-304B-B583-7CC4064FDF9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81000" y="1558925"/>
            <a:ext cx="3224888" cy="4302125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2000" b="0" i="0">
                <a:solidFill>
                  <a:schemeClr val="bg1">
                    <a:lumMod val="65000"/>
                  </a:schemeClr>
                </a:solidFill>
                <a:latin typeface="Source Sans 3" panose="020B05030304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48025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captions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558978"/>
            <a:ext cx="3224888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558978"/>
            <a:ext cx="4292326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558978"/>
            <a:ext cx="3224888" cy="404734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E8DF7-5E02-1A46-8F8F-7E735BA9F5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A387CA8-2BFC-514C-8463-0244B7A200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756" y="5607050"/>
            <a:ext cx="3224888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9CD173F-9443-154B-A211-586A9B01DF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4437" y="5607050"/>
            <a:ext cx="4292326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3393AB0-90E1-EB4C-9F92-469ECB0E4C7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0556" y="5607050"/>
            <a:ext cx="3224888" cy="389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Photo Caption</a:t>
            </a:r>
          </a:p>
        </p:txBody>
      </p:sp>
    </p:spTree>
    <p:extLst>
      <p:ext uri="{BB962C8B-B14F-4D97-AF65-F5344CB8AC3E}">
        <p14:creationId xmlns:p14="http://schemas.microsoft.com/office/powerpoint/2010/main" val="1872942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3305969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276182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9246395" y="1633930"/>
            <a:ext cx="2609851" cy="4163214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BB85-8254-264A-ADC9-F329B2CAF9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89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ictur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335756" y="1690688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3924437" y="1690688"/>
            <a:ext cx="4292326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8580556" y="1690688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10DC94B-F063-2243-A82D-16ADBAF8AD5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5757" y="3929449"/>
            <a:ext cx="4292326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DDAF7424-F60C-6A47-AB76-59580353DE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1875" y="3929449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49621BFD-9F1D-1E4A-A859-9E916E1EF07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580555" y="3929449"/>
            <a:ext cx="3224888" cy="195236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BA7123A-ECE0-244E-9B1F-9369CDAA40B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45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4867995-5DA7-0E46-92C1-17D3FB36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30492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Image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 b="0" i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Icon to add picture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422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9487" y="3250540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OSC.EDU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QUESTIONS?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EFFAC00-DDC2-283E-4B3F-BEBCAAEE4A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8631" y="5592595"/>
            <a:ext cx="3044698" cy="7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6815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9487" y="3250540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WILL BEGIN SHORTLY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WELCOME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C5AB97C-18C3-E1B6-AD73-A46F5F773C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8631" y="5592595"/>
            <a:ext cx="3044698" cy="7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779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D5F13-E17F-7F4B-B90E-02AA9844EE68}"/>
              </a:ext>
            </a:extLst>
          </p:cNvPr>
          <p:cNvSpPr/>
          <p:nvPr userDrawn="1"/>
        </p:nvSpPr>
        <p:spPr>
          <a:xfrm>
            <a:off x="0" y="5040360"/>
            <a:ext cx="12192000" cy="181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42633-3F03-C648-8455-266D21A2E86C}"/>
              </a:ext>
            </a:extLst>
          </p:cNvPr>
          <p:cNvSpPr txBox="1"/>
          <p:nvPr userDrawn="1"/>
        </p:nvSpPr>
        <p:spPr>
          <a:xfrm>
            <a:off x="3870251" y="3244334"/>
            <a:ext cx="443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0" i="0">
                <a:solidFill>
                  <a:srgbClr val="002060"/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OSC.EDU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0BAA9-C1C4-3B4F-885F-F222E9FA0514}"/>
              </a:ext>
            </a:extLst>
          </p:cNvPr>
          <p:cNvSpPr txBox="1"/>
          <p:nvPr userDrawn="1"/>
        </p:nvSpPr>
        <p:spPr>
          <a:xfrm>
            <a:off x="2532743" y="1817640"/>
            <a:ext cx="71265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>
                <a:solidFill>
                  <a:srgbClr val="002060"/>
                </a:solidFill>
                <a:latin typeface="Source Sans 3 Semibold" panose="020B0503030403020204" pitchFamily="34" charset="0"/>
              </a:rPr>
              <a:t>THANK YOU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01B720-2471-8549-925A-3799CDB9719D}"/>
              </a:ext>
            </a:extLst>
          </p:cNvPr>
          <p:cNvCxnSpPr>
            <a:cxnSpLocks/>
          </p:cNvCxnSpPr>
          <p:nvPr userDrawn="1"/>
        </p:nvCxnSpPr>
        <p:spPr>
          <a:xfrm>
            <a:off x="4477657" y="3027236"/>
            <a:ext cx="3236686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4ED4507-ABF2-3CE7-2FF8-83BE212DF7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68631" y="5592595"/>
            <a:ext cx="3044698" cy="78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862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1822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pe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04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B7E9-3BA4-484E-9D9D-392D6666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658247"/>
            <a:ext cx="11430001" cy="423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r>
              <a:rPr lang="en-US"/>
              <a:t>Maecenas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et ante </a:t>
            </a:r>
            <a:r>
              <a:rPr lang="en-US" err="1"/>
              <a:t>tincidunt</a:t>
            </a:r>
            <a:r>
              <a:rPr lang="en-US"/>
              <a:t> tempus. </a:t>
            </a:r>
            <a:r>
              <a:rPr lang="en-US" err="1"/>
              <a:t>Nullam</a:t>
            </a:r>
            <a:r>
              <a:rPr lang="en-US"/>
              <a:t> dictum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pede</a:t>
            </a:r>
            <a:r>
              <a:rPr lang="en-US"/>
              <a:t>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nostra, per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hymenaeos</a:t>
            </a:r>
            <a:r>
              <a:rPr lang="en-US"/>
              <a:t>.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9D996841-33AB-1041-B0F1-02114E0F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982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DB4D39-9FA5-5C46-845E-A393FCAF090C}"/>
              </a:ext>
            </a:extLst>
          </p:cNvPr>
          <p:cNvSpPr/>
          <p:nvPr userDrawn="1"/>
        </p:nvSpPr>
        <p:spPr>
          <a:xfrm>
            <a:off x="381000" y="-36206"/>
            <a:ext cx="987552" cy="91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Source Sans 3" panose="020B0503030403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1A58E-E2B6-4F4D-91A6-034B810B725B}"/>
              </a:ext>
            </a:extLst>
          </p:cNvPr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93BE12D-B4D3-5E43-9B6B-11CE556E3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5000"/>
                  </a:schemeClr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-up of a sign&#10;&#10;Description automatically generated">
            <a:extLst>
              <a:ext uri="{FF2B5EF4-FFF2-40B4-BE49-F238E27FC236}">
                <a16:creationId xmlns:a16="http://schemas.microsoft.com/office/drawing/2014/main" id="{161FB28D-B1D2-FB38-3FD1-4572E0880839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3" y="6361099"/>
            <a:ext cx="1409014" cy="3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43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714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all" baseline="0">
          <a:solidFill>
            <a:srgbClr val="0E3F75"/>
          </a:solidFill>
          <a:latin typeface="Source Sans 3 Semibold" panose="020B05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7724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23444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3A0014-2659-0260-6732-CD9F21ABE0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13356" y="728671"/>
            <a:ext cx="4165288" cy="43286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D202D74-0CE4-9BA2-FE45-5D24269340C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630" y="5767874"/>
            <a:ext cx="3041726" cy="78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3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712" r:id="rId3"/>
    <p:sldLayoutId id="214748371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B7E9-3BA4-484E-9D9D-392D6666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658247"/>
            <a:ext cx="11430001" cy="4235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r>
              <a:rPr lang="en-US"/>
              <a:t>Maecenas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et ante </a:t>
            </a:r>
            <a:r>
              <a:rPr lang="en-US" err="1"/>
              <a:t>tincidunt</a:t>
            </a:r>
            <a:r>
              <a:rPr lang="en-US"/>
              <a:t> tempus. </a:t>
            </a:r>
            <a:r>
              <a:rPr lang="en-US" err="1"/>
              <a:t>Nullam</a:t>
            </a:r>
            <a:r>
              <a:rPr lang="en-US"/>
              <a:t> dictum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pede</a:t>
            </a:r>
            <a:r>
              <a:rPr lang="en-US"/>
              <a:t>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.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nostra, per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hymenaeos</a:t>
            </a:r>
            <a:r>
              <a:rPr lang="en-US"/>
              <a:t>.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9D996841-33AB-1041-B0F1-02114E0F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982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DB4D39-9FA5-5C46-845E-A393FCAF090C}"/>
              </a:ext>
            </a:extLst>
          </p:cNvPr>
          <p:cNvSpPr/>
          <p:nvPr userDrawn="1"/>
        </p:nvSpPr>
        <p:spPr>
          <a:xfrm>
            <a:off x="381000" y="-36206"/>
            <a:ext cx="987552" cy="910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Source Sans 3" panose="020B0503030403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51A58E-E2B6-4F4D-91A6-034B810B725B}"/>
              </a:ext>
            </a:extLst>
          </p:cNvPr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0" i="0">
              <a:latin typeface="Source Sans 3" panose="020B0503030403020204" pitchFamily="34" charset="0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A93BE12D-B4D3-5E43-9B6B-11CE556E3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5000"/>
                  </a:schemeClr>
                </a:solidFill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83B7B7A-CDDA-7C44-B1B0-1F1E45567B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FB28D-B1D2-FB38-3FD1-4572E0880839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415" y="6361099"/>
            <a:ext cx="1405890" cy="3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3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  <p:sldLayoutId id="2147483711" r:id="rId24"/>
    <p:sldLayoutId id="2147483727" r:id="rId2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cap="all" baseline="0">
          <a:solidFill>
            <a:srgbClr val="0E3F75"/>
          </a:solidFill>
          <a:latin typeface="Source Sans 3 Semibold" panose="020B05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7724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23444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ource Sans 3" panose="020B0503030403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h-scipe.github.io/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8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D03225-48C0-83CA-32B6-BF2CD663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800" b="0" cap="none">
                <a:latin typeface="Titillium Web" pitchFamily="2" charset="77"/>
              </a:rPr>
              <a:t>Summer 2026 </a:t>
            </a:r>
            <a:br>
              <a:rPr lang="en-US" sz="4800" b="0" cap="none">
                <a:latin typeface="Titillium Web" pitchFamily="2" charset="77"/>
              </a:rPr>
            </a:br>
            <a:r>
              <a:rPr lang="en-US" sz="4800" b="0" i="0" u="none" strike="noStrike" cap="none">
                <a:effectLst/>
                <a:latin typeface="Titillium Web" pitchFamily="2" charset="77"/>
              </a:rPr>
              <a:t>AI Research Experience (AIRE) Program</a:t>
            </a:r>
            <a:br>
              <a:rPr lang="en-US" sz="4800" b="0" i="0" u="none" strike="noStrike" cap="none">
                <a:effectLst/>
                <a:latin typeface="Titillium Web" pitchFamily="2" charset="77"/>
              </a:rPr>
            </a:br>
            <a:r>
              <a:rPr lang="en-US" sz="4800" b="0" i="0" u="none" strike="noStrike" cap="none">
                <a:effectLst/>
                <a:latin typeface="Titillium Web" pitchFamily="2" charset="77"/>
              </a:rPr>
              <a:t>Introduction and What to Expect</a:t>
            </a:r>
            <a:br>
              <a:rPr lang="en-US" sz="4800" b="0" i="0" u="none" strike="noStrike" cap="none">
                <a:effectLst/>
                <a:latin typeface="Titillium Web" pitchFamily="2" charset="77"/>
              </a:rPr>
            </a:br>
            <a:br>
              <a:rPr lang="en-US" sz="4800" b="0" i="0" u="none" strike="noStrike" cap="none">
                <a:effectLst/>
                <a:latin typeface="Titillium Web" pitchFamily="2" charset="77"/>
              </a:rPr>
            </a:br>
            <a:r>
              <a:rPr lang="en-US" sz="2200" b="0" i="0" u="none" strike="noStrike" cap="none">
                <a:effectLst/>
                <a:latin typeface="Titillium Web" pitchFamily="2" charset="77"/>
              </a:rPr>
              <a:t>K</a:t>
            </a:r>
            <a:r>
              <a:rPr lang="en-US" sz="2200" b="0" cap="none">
                <a:latin typeface="Titillium Web" pitchFamily="2" charset="77"/>
              </a:rPr>
              <a:t>aren</a:t>
            </a:r>
            <a:r>
              <a:rPr lang="en-US" sz="2200" b="0" i="0" u="none" strike="noStrike" cap="none">
                <a:effectLst/>
                <a:latin typeface="Titillium Web" pitchFamily="2" charset="77"/>
              </a:rPr>
              <a:t> Tomko, Emily Fairchild</a:t>
            </a:r>
            <a:br>
              <a:rPr lang="en-US" sz="2200" b="0" i="0" u="none" strike="noStrike" cap="none">
                <a:effectLst/>
                <a:latin typeface="Titillium Web" pitchFamily="2" charset="77"/>
              </a:rPr>
            </a:br>
            <a:r>
              <a:rPr lang="en-US" sz="2200" b="0" i="0" u="none" strike="noStrike" cap="none">
                <a:effectLst/>
                <a:latin typeface="Titillium Web" pitchFamily="2" charset="77"/>
              </a:rPr>
              <a:t>Ohio Supercomputer Center</a:t>
            </a:r>
            <a:br>
              <a:rPr lang="en-US" sz="2200" b="0" i="0" u="none" strike="noStrike" cap="none">
                <a:effectLst/>
                <a:latin typeface="Titillium Web" pitchFamily="2" charset="77"/>
              </a:rPr>
            </a:br>
            <a:r>
              <a:rPr lang="en-US" sz="2200" b="0" cap="none" err="1">
                <a:latin typeface="Titillium Web" pitchFamily="2" charset="77"/>
              </a:rPr>
              <a:t>aire-info@osc.edu</a:t>
            </a:r>
            <a:br>
              <a:rPr lang="en-US" sz="2200" b="0" cap="none">
                <a:latin typeface="Titillium Web" pitchFamily="2" charset="77"/>
              </a:rPr>
            </a:b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63275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934B-F5FF-620B-0ABE-683E0F7C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SOME 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01E7-4185-37FF-5B9F-E9FF09783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National Science Foundation Awards #2320952, #2320953, #2320954 provide the funds for this program and partially support the OH-SCIPE team</a:t>
            </a:r>
          </a:p>
          <a:p>
            <a:r>
              <a:rPr lang="en-US" dirty="0"/>
              <a:t>OSC and OH-TECH staff: Jerran Leber, Tammi Hysell</a:t>
            </a:r>
            <a:r>
              <a:rPr lang="en-US"/>
              <a:t>, Jen </a:t>
            </a:r>
            <a:r>
              <a:rPr lang="en-US" dirty="0"/>
              <a:t>Forsberg, Betsy Kordes, Alan Chalker, Lexi Biasi, Andrea Gibson, Leya Varghese, Shannon Duffy, OH-TECH Desktop support</a:t>
            </a:r>
          </a:p>
          <a:p>
            <a:r>
              <a:rPr lang="en-US" dirty="0"/>
              <a:t>All of you for participating as our awardees and mentors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5D3F9-2695-66E3-0217-7044E9116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6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DECF-90F7-570D-0484-9742DB9F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cap="none"/>
              <a:t>TODAY’S 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ADABA8-2568-FEF1-F163-3C77DA671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/>
              <a:t>9:30-10:00 - Arrive / Check in</a:t>
            </a:r>
          </a:p>
          <a:p>
            <a:r>
              <a:rPr lang="en-US" sz="2800"/>
              <a:t>10:00-10:20 - Welcome and Introductions</a:t>
            </a:r>
          </a:p>
          <a:p>
            <a:r>
              <a:rPr lang="en-US" sz="2800"/>
              <a:t>10:20-10:40 - What to Expect during your Research Experience</a:t>
            </a:r>
          </a:p>
          <a:p>
            <a:r>
              <a:rPr lang="en-US" sz="2800"/>
              <a:t>10:40-12:00 - Research Project Overviews (10 minutes each)</a:t>
            </a:r>
          </a:p>
          <a:p>
            <a:r>
              <a:rPr lang="en-US" sz="2800"/>
              <a:t>12:00-1:00 - Group Photo, then Lunch</a:t>
            </a:r>
          </a:p>
          <a:p>
            <a:r>
              <a:rPr lang="en-US" sz="2800"/>
              <a:t>1:00-1:30 – Research Project Overviews, HPC account setup check</a:t>
            </a:r>
          </a:p>
          <a:p>
            <a:r>
              <a:rPr lang="en-US" sz="2800"/>
              <a:t>1:30 – 2:00 – Travel and checking for Data Center Tour</a:t>
            </a:r>
          </a:p>
          <a:p>
            <a:r>
              <a:rPr lang="en-US" sz="2800"/>
              <a:t>2:00-4:00 - Data Center Tour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E8112-9200-6C79-8CBA-4BFDAB7CA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962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0EED-2E69-F0B0-252B-C81D07087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D353D-BF03-8A2B-DA2F-0421BC5751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7FF260-648D-6F0B-5CAF-543B6C2E5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AIRE- AI Research Experience</a:t>
            </a:r>
          </a:p>
          <a:p>
            <a:r>
              <a:rPr lang="en-US"/>
              <a:t>CIP- Cyberinfrastructure Professionals</a:t>
            </a:r>
          </a:p>
          <a:p>
            <a:r>
              <a:rPr lang="en-US"/>
              <a:t>HPC- High Performance Computing </a:t>
            </a:r>
          </a:p>
          <a:p>
            <a:r>
              <a:rPr lang="en-US"/>
              <a:t>AI Fellow – Faculty or staff with stipend to collaborate on an AI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412752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934B-F5FF-620B-0ABE-683E0F7C4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OH-SCIPE PROJECT OVERVIEW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1B5C5D-18FE-B406-16BD-4B5DADEA1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57163"/>
            <a:ext cx="5550243" cy="981304"/>
          </a:xfrm>
        </p:spPr>
        <p:txBody>
          <a:bodyPr>
            <a:noAutofit/>
          </a:bodyPr>
          <a:lstStyle/>
          <a:p>
            <a:r>
              <a:rPr lang="en-US" sz="2000" cap="none"/>
              <a:t>Official Title: </a:t>
            </a:r>
            <a:r>
              <a:rPr lang="en-US" sz="2000" cap="none">
                <a:solidFill>
                  <a:srgbClr val="C00000"/>
                </a:solidFill>
              </a:rPr>
              <a:t>Interdisciplinary Research Support Community For Artificial Intelligence And Data Sciences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101E7-4185-37FF-5B9F-E9FF097833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/>
              <a:t>National Science Foundation funded initiative between Case Western Reserve University, Ohio Supercomputer Center and University of Cincinnati, Awards #2320952, #2320953, #2320954</a:t>
            </a:r>
          </a:p>
          <a:p>
            <a:r>
              <a:rPr lang="en-US" sz="2000"/>
              <a:t>The awards are thorough the NSF SCIPE program; we refer to this project as OH-SCIPE.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D38F36-A18C-9FE4-DD21-71AFDC391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57163"/>
            <a:ext cx="5638800" cy="4574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/>
              <a:t>Project Goal:</a:t>
            </a:r>
          </a:p>
          <a:p>
            <a:r>
              <a:rPr lang="en-US" sz="2000"/>
              <a:t>Address shortage of Cyberinfrastructure (CI) Professionals with AI Expertise</a:t>
            </a:r>
          </a:p>
          <a:p>
            <a:pPr marL="0" indent="0">
              <a:buNone/>
            </a:pPr>
            <a:r>
              <a:rPr lang="en-US" sz="2000"/>
              <a:t>Approach:</a:t>
            </a:r>
          </a:p>
          <a:p>
            <a:r>
              <a:rPr lang="en-US" sz="2000"/>
              <a:t>Hire, mentor, and train a new cohort of CI Professionals (ML Engineers and Facilitators) for Ohio</a:t>
            </a:r>
          </a:p>
          <a:p>
            <a:r>
              <a:rPr lang="en-US" sz="2000"/>
              <a:t>Engage with researchers to address their AI challenges</a:t>
            </a:r>
          </a:p>
          <a:p>
            <a:r>
              <a:rPr lang="en-US" sz="2000">
                <a:solidFill>
                  <a:srgbClr val="C00000"/>
                </a:solidFill>
              </a:rPr>
              <a:t>Encourage the next generation of AI and CI workers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5D3F9-2695-66E3-0217-7044E9116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13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59694-4DEE-C6A1-7095-9CB38A8D0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AI RESEARCH EXPERIENCES FOR OHIO UNDERGRADUATES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3C3E4-BF08-3E58-0165-672A2FBE3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The annual summer </a:t>
            </a:r>
            <a:r>
              <a:rPr lang="en-US">
                <a:solidFill>
                  <a:srgbClr val="C00000"/>
                </a:solidFill>
              </a:rPr>
              <a:t>AI Research Experience (AIRE) </a:t>
            </a:r>
            <a:r>
              <a:rPr lang="en-US"/>
              <a:t>program provides an opportunity for postsecondary students in Ohio to work on AI-focused research projects with university teams for nine weeks during the summer. </a:t>
            </a:r>
          </a:p>
          <a:p>
            <a:r>
              <a:rPr lang="en-US"/>
              <a:t>Participants are placed with research teams at Case Western Reserve University, The Ohio State University, or the University of Cincinnati. </a:t>
            </a:r>
          </a:p>
          <a:p>
            <a:r>
              <a:rPr lang="en-US"/>
              <a:t>The program offers the chance to explore education and career paths in the emerging cyberinfrastructure field. </a:t>
            </a:r>
          </a:p>
          <a:p>
            <a:r>
              <a:rPr lang="en-US"/>
              <a:t>The OH-SCIPE team provides training and guidance on AI and high performance computing technologies, as well as support on software and computer systems needed for the research projects. 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3E9D5-FAC4-5987-8822-C062E8A59F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637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0FCB-A570-0EE6-12F7-B9CD0B50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AIRE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4E75CD-2AA1-E9E4-FDF9-AE1FB77405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30846-30D9-B61E-1375-2BAD4D00C421}"/>
              </a:ext>
            </a:extLst>
          </p:cNvPr>
          <p:cNvSpPr txBox="1"/>
          <p:nvPr/>
        </p:nvSpPr>
        <p:spPr>
          <a:xfrm>
            <a:off x="643094" y="1780812"/>
            <a:ext cx="10906589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>
                <a:latin typeface="Calibri"/>
                <a:ea typeface="Calibri"/>
                <a:cs typeface="Calibri"/>
              </a:rPr>
              <a:t>The aim of AIRE, managed by the </a:t>
            </a:r>
            <a:r>
              <a:rPr lang="en-US" sz="2000">
                <a:latin typeface="Calibri"/>
                <a:ea typeface="Calibri"/>
                <a:cs typeface="Calibri"/>
                <a:hlinkClick r:id="rId2"/>
              </a:rPr>
              <a:t>OH-SCIPE project</a:t>
            </a:r>
            <a:r>
              <a:rPr lang="en-US" sz="2000">
                <a:latin typeface="Calibri"/>
                <a:ea typeface="Calibri"/>
                <a:cs typeface="Calibri"/>
              </a:rPr>
              <a:t>, is to increase awareness of the work of Cyberinfrastructure Professionals (CIP), individuals who provide IT support to university researchers, with a growing focus on supporting AI. The AIRE program can help undergraduates explore potential education and career paths in this emerging field. </a:t>
            </a: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Our goal is to better inform the next generation of professionals and help them develop the skills needed in this changing world. </a:t>
            </a:r>
            <a:br>
              <a:rPr lang="en-US" sz="2000">
                <a:latin typeface="Calibri"/>
                <a:ea typeface="Calibri"/>
                <a:cs typeface="Calibri"/>
              </a:rPr>
            </a:br>
            <a:br>
              <a:rPr lang="en-US" sz="2000">
                <a:latin typeface="Calibri"/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Our hope is that when we connect students from a variety of institutions with leaders of their field in AI and ML, we can help the students understand how these new technologies are applicable in many fields. </a:t>
            </a:r>
          </a:p>
        </p:txBody>
      </p:sp>
    </p:spTree>
    <p:extLst>
      <p:ext uri="{BB962C8B-B14F-4D97-AF65-F5344CB8AC3E}">
        <p14:creationId xmlns:p14="http://schemas.microsoft.com/office/powerpoint/2010/main" val="23197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9031-4251-CB2B-0A02-9D3522CC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Congratulations!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D3CB8-409A-4477-566B-8C64A4E85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18443"/>
            <a:ext cx="11430000" cy="465011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/>
              <a:t>AIRE Awardees:</a:t>
            </a:r>
          </a:p>
          <a:p>
            <a:r>
              <a:rPr lang="en-US">
                <a:solidFill>
                  <a:schemeClr val="accent1"/>
                </a:solidFill>
              </a:rPr>
              <a:t>Daniel Jung</a:t>
            </a:r>
            <a:r>
              <a:rPr lang="en-US"/>
              <a:t>, “AI-Driven High-Throughput Platform for Polymer Structure–Property Relationships” with </a:t>
            </a:r>
            <a:r>
              <a:rPr lang="en-US" err="1"/>
              <a:t>Sanmukh</a:t>
            </a:r>
            <a:r>
              <a:rPr lang="en-US"/>
              <a:t> </a:t>
            </a:r>
            <a:r>
              <a:rPr lang="en-US" err="1"/>
              <a:t>Kuppannagari</a:t>
            </a:r>
            <a:r>
              <a:rPr lang="en-US"/>
              <a:t>, CWRU</a:t>
            </a:r>
          </a:p>
          <a:p>
            <a:r>
              <a:rPr lang="en-US">
                <a:solidFill>
                  <a:schemeClr val="accent1"/>
                </a:solidFill>
              </a:rPr>
              <a:t>Brody Green</a:t>
            </a:r>
            <a:r>
              <a:rPr lang="en-US"/>
              <a:t>, “Non-ergodic correlation models of sequential earthquake ground motions” with </a:t>
            </a:r>
            <a:r>
              <a:rPr lang="en-US" err="1"/>
              <a:t>Kuanshi</a:t>
            </a:r>
            <a:r>
              <a:rPr lang="en-US"/>
              <a:t> Zhong, UC</a:t>
            </a:r>
          </a:p>
          <a:p>
            <a:r>
              <a:rPr lang="en-US">
                <a:solidFill>
                  <a:schemeClr val="accent1"/>
                </a:solidFill>
              </a:rPr>
              <a:t>Dylan Winger</a:t>
            </a:r>
            <a:r>
              <a:rPr lang="en-US"/>
              <a:t>, “Artificial intelligence for analysis of wildlife imagery” with Joe Johnson, UC</a:t>
            </a:r>
          </a:p>
          <a:p>
            <a:r>
              <a:rPr lang="en-US">
                <a:solidFill>
                  <a:schemeClr val="accent1"/>
                </a:solidFill>
              </a:rPr>
              <a:t>Avyukth Rangarajan</a:t>
            </a:r>
            <a:r>
              <a:rPr lang="en-US"/>
              <a:t>, “Fairness Evaluation of Vision-Language Models for Autonomous Driving” with Sumon Biswas, CWRU</a:t>
            </a:r>
          </a:p>
          <a:p>
            <a:r>
              <a:rPr lang="en-US">
                <a:solidFill>
                  <a:schemeClr val="accent1"/>
                </a:solidFill>
              </a:rPr>
              <a:t>Garfield Lawrence</a:t>
            </a:r>
            <a:r>
              <a:rPr lang="en-US"/>
              <a:t>, “Learning Generalizable Manipulation Policies via Vision-Language-Action (VLA) Models” with Yu Yin, CWRU</a:t>
            </a:r>
          </a:p>
          <a:p>
            <a:r>
              <a:rPr lang="en-US">
                <a:solidFill>
                  <a:schemeClr val="accent1"/>
                </a:solidFill>
              </a:rPr>
              <a:t>Maxwell Lyman</a:t>
            </a:r>
            <a:r>
              <a:rPr lang="en-US"/>
              <a:t>, “Near Real-Time PET Image Synthesis from </a:t>
            </a:r>
            <a:r>
              <a:rPr lang="en-US" err="1"/>
              <a:t>Histo</a:t>
            </a:r>
            <a:r>
              <a:rPr lang="en-US"/>
              <a:t>-Image Using Deep Learning” with Jing Tang, UC</a:t>
            </a:r>
          </a:p>
          <a:p>
            <a:r>
              <a:rPr lang="en-US">
                <a:solidFill>
                  <a:schemeClr val="accent1"/>
                </a:solidFill>
              </a:rPr>
              <a:t>Alexander </a:t>
            </a:r>
            <a:r>
              <a:rPr lang="en-US" err="1">
                <a:solidFill>
                  <a:schemeClr val="accent1"/>
                </a:solidFill>
              </a:rPr>
              <a:t>Gose</a:t>
            </a:r>
            <a:r>
              <a:rPr lang="en-US"/>
              <a:t>, “Multi-Modal and Multi-Agent AI Crisis Response Testbed” with Nathan Elrod, UC</a:t>
            </a:r>
          </a:p>
          <a:p>
            <a:r>
              <a:rPr lang="en-US">
                <a:solidFill>
                  <a:schemeClr val="accent1"/>
                </a:solidFill>
              </a:rPr>
              <a:t>Landry Lies</a:t>
            </a:r>
            <a:r>
              <a:rPr lang="en-US"/>
              <a:t>, “Workflow or it didn’t happen: Reproducibility in AI research for science” with Matthew Thompson &amp; Elizabeth Campolongo, OSU</a:t>
            </a:r>
          </a:p>
          <a:p>
            <a:pPr marL="0" indent="0">
              <a:buNone/>
            </a:pPr>
            <a:r>
              <a:rPr lang="en-US" sz="2900"/>
              <a:t>AI Fellow:</a:t>
            </a:r>
          </a:p>
          <a:p>
            <a:r>
              <a:rPr lang="en-US">
                <a:solidFill>
                  <a:schemeClr val="accent1"/>
                </a:solidFill>
              </a:rPr>
              <a:t>Andrew Merwin</a:t>
            </a:r>
            <a:r>
              <a:rPr lang="en-US"/>
              <a:t>, BWU, “Building models to assist in the identification of singing insects in an urban park </a:t>
            </a:r>
            <a:r>
              <a:rPr lang="en-US" err="1"/>
              <a:t>system”,with</a:t>
            </a:r>
            <a:r>
              <a:rPr lang="en-US"/>
              <a:t> </a:t>
            </a:r>
            <a:r>
              <a:rPr lang="en-US" err="1"/>
              <a:t>Sanmukh</a:t>
            </a:r>
            <a:r>
              <a:rPr lang="en-US"/>
              <a:t> </a:t>
            </a:r>
            <a:r>
              <a:rPr lang="en-US" err="1"/>
              <a:t>Kuppannagari</a:t>
            </a:r>
            <a:r>
              <a:rPr lang="en-US"/>
              <a:t>, CWRU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58632-BE49-9E5E-0529-77A68D5AD5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97FB688-38B0-1299-F718-8CEA5A7C7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545738"/>
            <a:ext cx="6935788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1243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Tomi Fayomi, Franklin University, Rajiv's project, Exploring AI-Driven Cyberinfrastructure for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Isaac Wilson, Columbus State Community College, Elizabeth and Matt's project, "Pixels to Paragraphs: Giving Vision Models a Voice"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Jaser Hamad, Cuyahoga Community College, Sanmukh's project, AI-Driven Polymer Aging Prediction and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Oleksandr Vykliuk, Cuyahoga Community College, Weicong's project, Anomaly Detection in HPC System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Malak Sulaiman, Cuyahoga Community College, Mohsen's project, Adaptive Speech Processing via Reinforcement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Filip Stopyra, Cuyahoga Community College, Weicong's project, Fake-Image Detection with Forte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5BF22ED-EA7B-CB20-EBAF-8799FE84A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5843975"/>
            <a:ext cx="752792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</a:b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54275D3-2307-C5D5-02D4-01B4C264F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94698138"/>
            <a:ext cx="6935788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1243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Tomi Fayomi, Franklin University, Rajiv's project, Exploring AI-Driven Cyberinfrastructure for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Isaac Wilson, Columbus State Community College, Elizabeth and Matt's project, "Pixels to Paragraphs: Giving Vision Models a Voice"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Jaser Hamad, Cuyahoga Community College, Sanmukh's project, AI-Driven Polymer Aging Prediction and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Oleksandr Vykliuk, Cuyahoga Community College, Weicong's project, Anomaly Detection in HPC System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Malak Sulaiman, Cuyahoga Community College, Mohsen's project, Adaptive Speech Processing via Reinforcement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Filip Stopyra, Cuyahoga Community College, Weicong's project, Fake-Image Detection with Forte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338B021-AE11-A725-CFDB-F015F4C92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5996375"/>
            <a:ext cx="752792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</a:b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49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DF44-B465-7E22-1D0B-472AED4A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What to Expect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2B2D1-8FEF-294B-7E9F-121A030D78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64302" y="2008683"/>
            <a:ext cx="10189852" cy="368726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/>
              <a:t>To meet new people </a:t>
            </a:r>
          </a:p>
          <a:p>
            <a:r>
              <a:rPr lang="en-US" sz="2800"/>
              <a:t>Learn new things about: AI, High-Performance Computing, Python …</a:t>
            </a:r>
          </a:p>
          <a:p>
            <a:r>
              <a:rPr lang="en-US" sz="2800"/>
              <a:t>Learn more about the research process</a:t>
            </a:r>
          </a:p>
          <a:p>
            <a:r>
              <a:rPr lang="en-US" sz="2800">
                <a:latin typeface="Source Sans 3"/>
                <a:ea typeface="Open Sans"/>
                <a:cs typeface="Open Sans"/>
              </a:rPr>
              <a:t>Work hard</a:t>
            </a:r>
            <a:endParaRPr lang="en-US" sz="2800"/>
          </a:p>
          <a:p>
            <a:r>
              <a:rPr lang="en-US" sz="2800"/>
              <a:t>Have some failure </a:t>
            </a:r>
          </a:p>
          <a:p>
            <a:r>
              <a:rPr lang="en-US" sz="2800"/>
              <a:t>Achieve something unexpected</a:t>
            </a:r>
          </a:p>
          <a:p>
            <a:r>
              <a:rPr lang="en-US" sz="2800"/>
              <a:t>To be treated with kindness and respect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D0A67-6A2C-BF1B-2B82-0848142145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56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0DB1-407A-97C7-C5AF-FFD6E311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958C-DF50-FDF3-ED44-2799E003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What is expected of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25393-D292-C8FD-E55A-EC41AA3578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/>
              <a:t>Show up for trainings and weekly meetings</a:t>
            </a:r>
          </a:p>
          <a:p>
            <a:r>
              <a:rPr lang="en-US" sz="2600"/>
              <a:t>Work 36-38 hours per week – with place and times coordinated with your science mentors</a:t>
            </a:r>
          </a:p>
          <a:p>
            <a:r>
              <a:rPr lang="en-US" sz="2600"/>
              <a:t>Ask questions and give us feedback</a:t>
            </a:r>
          </a:p>
          <a:p>
            <a:r>
              <a:rPr lang="en-US" sz="2600"/>
              <a:t>Let someone know of any issues that come up</a:t>
            </a:r>
          </a:p>
          <a:p>
            <a:r>
              <a:rPr lang="en-US" sz="2600"/>
              <a:t>Use AI and other existing solutions or resources thoughtfully with guidance from your mentors</a:t>
            </a:r>
          </a:p>
          <a:p>
            <a:r>
              <a:rPr lang="en-US" sz="2600"/>
              <a:t>Be kind and respectful to each other and to everyone on the project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21019-4EA8-29E8-D29B-14D66B8F568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58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8C50-3104-4DA5-3A88-AF9DDB54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6"/>
            <a:ext cx="11430000" cy="649482"/>
          </a:xfrm>
        </p:spPr>
        <p:txBody>
          <a:bodyPr>
            <a:normAutofit/>
          </a:bodyPr>
          <a:lstStyle/>
          <a:p>
            <a:r>
              <a:rPr lang="en-US"/>
              <a:t>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E5D9B-6EF9-3F23-51B3-184543450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14608"/>
            <a:ext cx="10515600" cy="4125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ource Sans 3"/>
                <a:ea typeface="Open Sans"/>
                <a:cs typeface="Open Sans"/>
              </a:rPr>
              <a:t>Week 1-2 (May 19-27) – In-person kickoff event, followed by virtual training: Python, Linux, HPC basics</a:t>
            </a:r>
          </a:p>
          <a:p>
            <a:r>
              <a:rPr lang="en-US"/>
              <a:t>Weeks 2-8 (May 26-July 10) – Carry out project, meet regularly with science mentors, join CIP office hours</a:t>
            </a:r>
          </a:p>
          <a:p>
            <a:r>
              <a:rPr lang="en-US"/>
              <a:t>Week 9 (July 13-17) – Project wrap-up, deliverables to science mentor, prepare presentations</a:t>
            </a:r>
          </a:p>
          <a:p>
            <a:r>
              <a:rPr lang="en-US"/>
              <a:t>July 20 – Virtual Wrap-up event with project presentations</a:t>
            </a:r>
            <a:endParaRPr lang="en-US" b="1">
              <a:solidFill>
                <a:srgbClr val="0098D3"/>
              </a:solidFill>
            </a:endParaRP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CF19-0D25-C4AB-6D27-DF834BF137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3B7B7A-CDDA-7C44-B1B0-1F1E45567B3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8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CFEA-AD3B-D6BA-CB54-DEBDF8A8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Schedule and Topics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1B14D-20BA-CD73-67FA-C18199CB35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3B7B7A-CDDA-7C44-B1B0-1F1E45567B3B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11AEF9B-4AFE-133A-7B6A-830F420FE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155470"/>
              </p:ext>
            </p:extLst>
          </p:nvPr>
        </p:nvGraphicFramePr>
        <p:xfrm>
          <a:off x="-9071" y="2349499"/>
          <a:ext cx="12211343" cy="2542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134">
                  <a:extLst>
                    <a:ext uri="{9D8B030D-6E8A-4147-A177-3AD203B41FA5}">
                      <a16:colId xmlns:a16="http://schemas.microsoft.com/office/drawing/2014/main" val="1263426875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547206478"/>
                    </a:ext>
                  </a:extLst>
                </a:gridCol>
                <a:gridCol w="1120164">
                  <a:extLst>
                    <a:ext uri="{9D8B030D-6E8A-4147-A177-3AD203B41FA5}">
                      <a16:colId xmlns:a16="http://schemas.microsoft.com/office/drawing/2014/main" val="4171222811"/>
                    </a:ext>
                  </a:extLst>
                </a:gridCol>
                <a:gridCol w="1491174">
                  <a:extLst>
                    <a:ext uri="{9D8B030D-6E8A-4147-A177-3AD203B41FA5}">
                      <a16:colId xmlns:a16="http://schemas.microsoft.com/office/drawing/2014/main" val="3639582364"/>
                    </a:ext>
                  </a:extLst>
                </a:gridCol>
                <a:gridCol w="1052067">
                  <a:extLst>
                    <a:ext uri="{9D8B030D-6E8A-4147-A177-3AD203B41FA5}">
                      <a16:colId xmlns:a16="http://schemas.microsoft.com/office/drawing/2014/main" val="4093680876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1406073219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900502278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3934860341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3334394869"/>
                    </a:ext>
                  </a:extLst>
                </a:gridCol>
                <a:gridCol w="1221134">
                  <a:extLst>
                    <a:ext uri="{9D8B030D-6E8A-4147-A177-3AD203B41FA5}">
                      <a16:colId xmlns:a16="http://schemas.microsoft.com/office/drawing/2014/main" val="2137507299"/>
                    </a:ext>
                  </a:extLst>
                </a:gridCol>
              </a:tblGrid>
              <a:tr h="408988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5/20 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5/21 (Th)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5/22   (F)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5/26  (Tu)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5/27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43133"/>
                  </a:ext>
                </a:extLst>
              </a:tr>
              <a:tr h="4089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10am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2pm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9:30am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2pm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744214"/>
                  </a:ext>
                </a:extLst>
              </a:tr>
              <a:tr h="172438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Intro to HPC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Intro to Linux 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Version Control w/ 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Python environments w/ </a:t>
                      </a:r>
                      <a:r>
                        <a:rPr lang="en-US" sz="1800" err="1">
                          <a:latin typeface="Calibri"/>
                          <a:ea typeface="Calibri"/>
                          <a:cs typeface="Calibri"/>
                        </a:rPr>
                        <a:t>conda</a:t>
                      </a:r>
                      <a:r>
                        <a:rPr lang="en-US" sz="1800"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lang="en-US" sz="1800" err="1">
                          <a:latin typeface="Calibri"/>
                          <a:ea typeface="Calibri"/>
                          <a:cs typeface="Calibri"/>
                        </a:rPr>
                        <a:t>uv</a:t>
                      </a:r>
                      <a:endParaRPr lang="en-US" sz="18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err="1">
                          <a:latin typeface="Calibri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 and kernels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Python 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Data Science w/ 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Intro to ML, Sci-kit 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err="1">
                          <a:latin typeface="Calibri"/>
                          <a:ea typeface="Calibri"/>
                          <a:cs typeface="Calibri"/>
                        </a:rPr>
                        <a:t>PyTorch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err="1">
                          <a:latin typeface="Calibri"/>
                          <a:ea typeface="Calibri"/>
                          <a:cs typeface="Calibri"/>
                        </a:rPr>
                        <a:t>PyTorch</a:t>
                      </a: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 cont.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52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043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C67E-5173-D895-5D66-323A3E49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CIP Weekly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03BEA-3439-B57D-A378-DC8CE413A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ource Sans 3"/>
                <a:ea typeface="Open Sans"/>
                <a:cs typeface="Open Sans"/>
              </a:rPr>
              <a:t>Weekly meeting for technical questions, training follow-up and project updates (required)</a:t>
            </a:r>
            <a:endParaRPr lang="en-US"/>
          </a:p>
          <a:p>
            <a:r>
              <a:rPr lang="en-US">
                <a:latin typeface="Source Sans 3"/>
                <a:ea typeface="Open Sans"/>
                <a:cs typeface="Open Sans"/>
              </a:rPr>
              <a:t>Every Monday at 1pm-2pm</a:t>
            </a:r>
          </a:p>
          <a:p>
            <a:r>
              <a:rPr lang="en-US">
                <a:latin typeface="Source Sans 3"/>
                <a:ea typeface="Open Sans"/>
                <a:cs typeface="Open Sans"/>
              </a:rPr>
              <a:t>Cyberinfrastructure professionals are here to support you and your project!</a:t>
            </a:r>
          </a:p>
          <a:p>
            <a:r>
              <a:rPr lang="en-US">
                <a:latin typeface="Source Sans 3"/>
                <a:ea typeface="Open Sans"/>
                <a:cs typeface="Open Sans"/>
              </a:rPr>
              <a:t>The best outcome is that you bring technical issues to discuss and actively engage with each other and the CIPs</a:t>
            </a:r>
          </a:p>
          <a:p>
            <a:r>
              <a:rPr lang="en-US">
                <a:latin typeface="Source Sans 3"/>
                <a:ea typeface="Open Sans"/>
                <a:cs typeface="Open Sans"/>
              </a:rPr>
              <a:t>You can also reach out to CIPs outside of office hours (Slack, email)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4E838-49EA-D86F-A25F-996F628BFF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3B7B7A-CDDA-7C44-B1B0-1F1E45567B3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66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BE91-9A0F-2633-E4FD-A2DCE17AA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Slack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A15B0-7BBF-43C8-3659-86E2B738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6906683" cy="34163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latin typeface="Source Sans 3"/>
                <a:ea typeface="Open Sans"/>
                <a:cs typeface="Open Sans"/>
              </a:rPr>
              <a:t>Use the QR code here to join the slack space for our project, it's titled SCIPE (</a:t>
            </a:r>
            <a:r>
              <a:rPr lang="en-US" sz="2000" err="1">
                <a:latin typeface="Source Sans 3"/>
                <a:ea typeface="Open Sans"/>
                <a:cs typeface="Open Sans"/>
              </a:rPr>
              <a:t>scipeworkspace.slack.com</a:t>
            </a:r>
            <a:r>
              <a:rPr lang="en-US" sz="2000">
                <a:latin typeface="Source Sans 3"/>
                <a:ea typeface="Open Sans"/>
                <a:cs typeface="Open Sans"/>
              </a:rPr>
              <a:t>)</a:t>
            </a:r>
            <a:endParaRPr lang="en-US" sz="2000"/>
          </a:p>
          <a:p>
            <a:r>
              <a:rPr lang="en-US" sz="2000">
                <a:latin typeface="Source Sans 3"/>
                <a:ea typeface="Open Sans"/>
                <a:cs typeface="Open Sans"/>
              </a:rPr>
              <a:t>We've created a channel, </a:t>
            </a:r>
            <a:r>
              <a:rPr lang="en-US" sz="2000" b="1">
                <a:solidFill>
                  <a:srgbClr val="C00000"/>
                </a:solidFill>
                <a:latin typeface="Source Sans 3"/>
                <a:ea typeface="Open Sans"/>
                <a:cs typeface="Open Sans"/>
              </a:rPr>
              <a:t>#aire-2026</a:t>
            </a:r>
            <a:r>
              <a:rPr lang="en-US" sz="2000">
                <a:latin typeface="Source Sans 3"/>
                <a:ea typeface="Open Sans"/>
                <a:cs typeface="Open Sans"/>
              </a:rPr>
              <a:t>, for AIRE 2026 communications</a:t>
            </a:r>
          </a:p>
          <a:p>
            <a:r>
              <a:rPr lang="en-US" sz="2000">
                <a:latin typeface="Source Sans 3"/>
                <a:ea typeface="Open Sans"/>
                <a:cs typeface="Open Sans"/>
              </a:rPr>
              <a:t>Post and answer questions on all things related to #aire-2026</a:t>
            </a:r>
          </a:p>
          <a:p>
            <a:r>
              <a:rPr lang="en-US" sz="2000">
                <a:latin typeface="Source Sans 3"/>
                <a:ea typeface="Open Sans"/>
                <a:cs typeface="Open Sans"/>
              </a:rPr>
              <a:t>Reach out via email (</a:t>
            </a:r>
            <a:r>
              <a:rPr lang="en-US" sz="2000" err="1">
                <a:latin typeface="Source Sans 3"/>
                <a:ea typeface="Open Sans"/>
                <a:cs typeface="Open Sans"/>
              </a:rPr>
              <a:t>aire-info@osc.edu</a:t>
            </a:r>
            <a:r>
              <a:rPr lang="en-US" sz="2000">
                <a:latin typeface="Source Sans 3"/>
                <a:ea typeface="Open Sans"/>
                <a:cs typeface="Open Sans"/>
              </a:rPr>
              <a:t>) for anything you don’t want to broadcast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B269C-3D22-8450-F9E5-5792E10970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3B7B7A-CDDA-7C44-B1B0-1F1E45567B3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 descr="A qr code with many squares&#10;&#10;AI-generated content may be incorrect.">
            <a:extLst>
              <a:ext uri="{FF2B5EF4-FFF2-40B4-BE49-F238E27FC236}">
                <a16:creationId xmlns:a16="http://schemas.microsoft.com/office/drawing/2014/main" id="{400B9D02-6A99-A2EF-8C3F-394678803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583" y="1555749"/>
            <a:ext cx="3566584" cy="354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23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229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82E11-048D-29E9-5727-5F959566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A85D-B211-8E93-AC20-AA8229101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09074-CD23-FFC7-21DC-1B563D704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18443"/>
            <a:ext cx="11430000" cy="465011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/>
              <a:t>AIRE Projects:</a:t>
            </a:r>
          </a:p>
          <a:p>
            <a:r>
              <a:rPr lang="en-US"/>
              <a:t>“AI-Driven High-Throughput Platform for Polymer Structure–Property Relationships” with </a:t>
            </a:r>
            <a:r>
              <a:rPr lang="en-US" err="1"/>
              <a:t>Sanmukh</a:t>
            </a:r>
            <a:r>
              <a:rPr lang="en-US"/>
              <a:t> </a:t>
            </a:r>
            <a:r>
              <a:rPr lang="en-US" err="1"/>
              <a:t>Kuppannagari</a:t>
            </a:r>
            <a:r>
              <a:rPr lang="en-US"/>
              <a:t>, CWRU</a:t>
            </a:r>
          </a:p>
          <a:p>
            <a:r>
              <a:rPr lang="en-US"/>
              <a:t>“Non-ergodic correlation models of sequential earthquake ground motions” with </a:t>
            </a:r>
            <a:r>
              <a:rPr lang="en-US" err="1"/>
              <a:t>Kuanshi</a:t>
            </a:r>
            <a:r>
              <a:rPr lang="en-US"/>
              <a:t> Zhong, UC</a:t>
            </a:r>
          </a:p>
          <a:p>
            <a:r>
              <a:rPr lang="en-US"/>
              <a:t>“Artificial intelligence for analysis of wildlife imagery” with Joe Johnson, UC</a:t>
            </a:r>
          </a:p>
          <a:p>
            <a:r>
              <a:rPr lang="en-US"/>
              <a:t>“Fairness Evaluation of Vision-Language Models for Autonomous Driving” with Sumon Biswas, CWRU</a:t>
            </a:r>
          </a:p>
          <a:p>
            <a:r>
              <a:rPr lang="en-US"/>
              <a:t>“Learning Generalizable Manipulation Policies via Vision-Language-Action (VLA) Models” with Yu Yin, CWRU</a:t>
            </a:r>
          </a:p>
          <a:p>
            <a:r>
              <a:rPr lang="en-US"/>
              <a:t>“Near Real-Time PET Image Synthesis from </a:t>
            </a:r>
            <a:r>
              <a:rPr lang="en-US" err="1"/>
              <a:t>Histo</a:t>
            </a:r>
            <a:r>
              <a:rPr lang="en-US"/>
              <a:t>-Image Using Deep Learning” with Jing Tang, UC</a:t>
            </a:r>
          </a:p>
          <a:p>
            <a:r>
              <a:rPr lang="en-US"/>
              <a:t>“Multi-Modal and Multi-Agent AI Crisis Response Testbed” with Nathan Elrod, UC</a:t>
            </a:r>
          </a:p>
          <a:p>
            <a:r>
              <a:rPr lang="en-US">
                <a:solidFill>
                  <a:schemeClr val="accent1"/>
                </a:solidFill>
              </a:rPr>
              <a:t> </a:t>
            </a:r>
            <a:r>
              <a:rPr lang="en-US"/>
              <a:t>“Workflow or it didn’t happen: Reproducibility in AI research for science” with Matthew Thompson &amp; Elizabeth Campolongo, OSU</a:t>
            </a:r>
          </a:p>
          <a:p>
            <a:pPr marL="0" indent="0">
              <a:buNone/>
            </a:pPr>
            <a:r>
              <a:rPr lang="en-US" sz="2900"/>
              <a:t>AI Fellow Project:</a:t>
            </a:r>
          </a:p>
          <a:p>
            <a:r>
              <a:rPr lang="en-US">
                <a:solidFill>
                  <a:schemeClr val="accent1"/>
                </a:solidFill>
              </a:rPr>
              <a:t>Andrew Merwin</a:t>
            </a:r>
            <a:r>
              <a:rPr lang="en-US"/>
              <a:t>, BWU, “Building models to assist in the identification of singing insects in an urban park </a:t>
            </a:r>
            <a:r>
              <a:rPr lang="en-US" err="1"/>
              <a:t>system”,with</a:t>
            </a:r>
            <a:r>
              <a:rPr lang="en-US"/>
              <a:t> </a:t>
            </a:r>
            <a:r>
              <a:rPr lang="en-US" err="1"/>
              <a:t>Sanmukh</a:t>
            </a:r>
            <a:r>
              <a:rPr lang="en-US"/>
              <a:t> </a:t>
            </a:r>
            <a:r>
              <a:rPr lang="en-US" err="1"/>
              <a:t>Kuppannagari</a:t>
            </a:r>
            <a:r>
              <a:rPr lang="en-US"/>
              <a:t>, CWRU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C83D3-2D5A-9CEB-747B-F08ABAC83F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D6A84C-C3B2-8A4A-3CE4-98A3A7E46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545738"/>
            <a:ext cx="6935788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1243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Tomi Fayomi, Franklin University, Rajiv's project, Exploring AI-Driven Cyberinfrastructure for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Isaac Wilson, Columbus State Community College, Elizabeth and Matt's project, "Pixels to Paragraphs: Giving Vision Models a Voice"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Jaser Hamad, Cuyahoga Community College, Sanmukh's project, AI-Driven Polymer Aging Prediction and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Oleksandr Vykliuk, Cuyahoga Community College, Weicong's project, Anomaly Detection in HPC System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Malak Sulaiman, Cuyahoga Community College, Mohsen's project, Adaptive Speech Processing via Reinforcement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Filip Stopyra, Cuyahoga Community College, Weicong's project, Fake-Image Detection with Forte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57F941B-6A71-EA15-C1B8-FF9050670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5843975"/>
            <a:ext cx="752792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</a:b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1EAA1EE-AAF7-6667-02F4-65A3620E0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94698138"/>
            <a:ext cx="6935788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1243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100" b="0" i="0" u="none" strike="noStrike" kern="1200" cap="none" spc="0" normalizeH="0" baseline="0" noProof="0">
              <a:ln>
                <a:noFill/>
              </a:ln>
              <a:solidFill>
                <a:srgbClr val="1D1C1D"/>
              </a:solidFill>
              <a:effectLst/>
              <a:uLnTx/>
              <a:uFillTx/>
              <a:latin typeface="Slack-Lato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Tomi Fayomi, Franklin University, Rajiv's project, Exploring AI-Driven Cyberinfrastructure for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Isaac Wilson, Columbus State Community College, Elizabeth and Matt's project, "Pixels to Paragraphs: Giving Vision Models a Voice"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Jaser Hamad, Cuyahoga Community College, Sanmukh's project, AI-Driven Polymer Aging Prediction and Classification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Oleksandr Vykliuk, Cuyahoga Community College, Weicong's project, Anomaly Detection in HPC System Logs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Malak Sulaiman, Cuyahoga Community College, Mohsen's project, Adaptive Speech Processing via Reinforcement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  <a:t>Filip Stopyra, Cuyahoga Community College, Weicong's project, Fake-Image Detection with Forte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BF06080-78C5-322E-42EF-5D9DA4E89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05996375"/>
            <a:ext cx="7527925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1D1C1D"/>
                </a:solidFill>
                <a:effectLst/>
                <a:uLnTx/>
                <a:uFillTx/>
                <a:latin typeface="Slack-Lato"/>
                <a:ea typeface="+mn-ea"/>
                <a:cs typeface="+mn-cs"/>
              </a:rPr>
            </a:b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726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58B11-DDE3-ABB3-16CA-D7184D4DA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/>
              <a:t>DATACENTER TOUR (A.K.A SOCC TOUR)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1E3C9-AD40-3A08-1BCB-E00A4E728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3B7B7A-CDDA-7C44-B1B0-1F1E45567B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Source Sans 3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Source Sans 3" panose="020B0503030403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067D84-42E1-574D-BD87-C20B05CF3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809" y="886264"/>
            <a:ext cx="8941191" cy="58352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ADB9F3-EF5B-DB54-770F-2D7C407BB06C}"/>
              </a:ext>
            </a:extLst>
          </p:cNvPr>
          <p:cNvSpPr txBox="1"/>
          <p:nvPr/>
        </p:nvSpPr>
        <p:spPr>
          <a:xfrm>
            <a:off x="8297106" y="4940215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OSC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92B46-0E91-B3BD-8021-5220F47073C2}"/>
              </a:ext>
            </a:extLst>
          </p:cNvPr>
          <p:cNvSpPr txBox="1"/>
          <p:nvPr/>
        </p:nvSpPr>
        <p:spPr>
          <a:xfrm>
            <a:off x="5050380" y="1898885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SOCC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22F001D-4EF1-7DBC-70BA-A66DE440CFA4}"/>
                  </a:ext>
                </a:extLst>
              </p14:cNvPr>
              <p14:cNvContentPartPr/>
              <p14:nvPr/>
            </p14:nvContentPartPr>
            <p14:xfrm>
              <a:off x="6100835" y="2135996"/>
              <a:ext cx="2457720" cy="4025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22F001D-4EF1-7DBC-70BA-A66DE440CF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64835" y="2063996"/>
                <a:ext cx="2529360" cy="41691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243B67F-6ADD-9037-1E46-85AEF3273B46}"/>
              </a:ext>
            </a:extLst>
          </p:cNvPr>
          <p:cNvSpPr txBox="1"/>
          <p:nvPr/>
        </p:nvSpPr>
        <p:spPr>
          <a:xfrm>
            <a:off x="381000" y="1172379"/>
            <a:ext cx="2743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Drivers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See suggested route in this map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You will need to get buzzed into the parking lot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Source Sans 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Riders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Do you have a ride to the datacenter?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D3E74"/>
              </a:solidFill>
              <a:effectLst/>
              <a:uLnTx/>
              <a:uFillTx/>
              <a:latin typeface="Source Sans 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Everyone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Did you bring a government issued ID?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 Please limit what you take into the SOCC.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D3E74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  <a:t>Remember - No photos until we are in OSC’s suite with the computers.</a:t>
            </a:r>
          </a:p>
        </p:txBody>
      </p:sp>
    </p:spTree>
    <p:extLst>
      <p:ext uri="{BB962C8B-B14F-4D97-AF65-F5344CB8AC3E}">
        <p14:creationId xmlns:p14="http://schemas.microsoft.com/office/powerpoint/2010/main" val="2862272072"/>
      </p:ext>
    </p:extLst>
  </p:cSld>
  <p:clrMapOvr>
    <a:masterClrMapping/>
  </p:clrMapOvr>
</p:sld>
</file>

<file path=ppt/theme/theme1.xml><?xml version="1.0" encoding="utf-8"?>
<a:theme xmlns:a="http://schemas.openxmlformats.org/drawingml/2006/main" name="Heart of it All Deck">
  <a:themeElements>
    <a:clrScheme name="Heart of it All">
      <a:dk1>
        <a:srgbClr val="0D3E74"/>
      </a:dk1>
      <a:lt1>
        <a:srgbClr val="FFFFFF"/>
      </a:lt1>
      <a:dk2>
        <a:srgbClr val="0E3F75"/>
      </a:dk2>
      <a:lt2>
        <a:srgbClr val="FAFAFA"/>
      </a:lt2>
      <a:accent1>
        <a:srgbClr val="C12637"/>
      </a:accent1>
      <a:accent2>
        <a:srgbClr val="719364"/>
      </a:accent2>
      <a:accent3>
        <a:srgbClr val="EBA70E"/>
      </a:accent3>
      <a:accent4>
        <a:srgbClr val="69C2C6"/>
      </a:accent4>
      <a:accent5>
        <a:srgbClr val="BBD36F"/>
      </a:accent5>
      <a:accent6>
        <a:srgbClr val="8A5E32"/>
      </a:accent6>
      <a:hlink>
        <a:srgbClr val="1196D3"/>
      </a:hlink>
      <a:folHlink>
        <a:srgbClr val="00C0EA"/>
      </a:folHlink>
    </a:clrScheme>
    <a:fontScheme name="Test">
      <a:majorFont>
        <a:latin typeface="Source Sans 3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979C08F8-FE98-B342-9F81-046E352F7BD2}" vid="{F252488A-7430-0445-B721-A69347A76674}"/>
    </a:ext>
  </a:extLst>
</a:theme>
</file>

<file path=ppt/theme/theme2.xml><?xml version="1.0" encoding="utf-8"?>
<a:theme xmlns:a="http://schemas.openxmlformats.org/drawingml/2006/main" name="Opening and Closing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2285417-3B7A-AB4A-9465-9B33ECC89E68}" vid="{4B1FF2E0-0AD4-CE49-AAB3-8F074A7F3CE0}"/>
    </a:ext>
  </a:extLst>
</a:theme>
</file>

<file path=ppt/theme/theme3.xml><?xml version="1.0" encoding="utf-8"?>
<a:theme xmlns:a="http://schemas.openxmlformats.org/drawingml/2006/main" name="1_Heart of it All Deck">
  <a:themeElements>
    <a:clrScheme name="Heart of it All">
      <a:dk1>
        <a:srgbClr val="0D3E74"/>
      </a:dk1>
      <a:lt1>
        <a:srgbClr val="FFFFFF"/>
      </a:lt1>
      <a:dk2>
        <a:srgbClr val="0E3F75"/>
      </a:dk2>
      <a:lt2>
        <a:srgbClr val="FAFAFA"/>
      </a:lt2>
      <a:accent1>
        <a:srgbClr val="C12637"/>
      </a:accent1>
      <a:accent2>
        <a:srgbClr val="719364"/>
      </a:accent2>
      <a:accent3>
        <a:srgbClr val="EBA70E"/>
      </a:accent3>
      <a:accent4>
        <a:srgbClr val="69C2C6"/>
      </a:accent4>
      <a:accent5>
        <a:srgbClr val="BBD36F"/>
      </a:accent5>
      <a:accent6>
        <a:srgbClr val="8A5E32"/>
      </a:accent6>
      <a:hlink>
        <a:srgbClr val="1196D3"/>
      </a:hlink>
      <a:folHlink>
        <a:srgbClr val="00C0EA"/>
      </a:folHlink>
    </a:clrScheme>
    <a:fontScheme name="Test">
      <a:majorFont>
        <a:latin typeface="Source Sans 3"/>
        <a:ea typeface=""/>
        <a:cs typeface=""/>
      </a:majorFont>
      <a:minorFont>
        <a:latin typeface="Source Sans 3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A2285417-3B7A-AB4A-9465-9B33ECC89E68}" vid="{AD7F3020-A3DD-0940-B3F7-1C437EDCF13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52FCAA67ED3941AAB86C9E82812121" ma:contentTypeVersion="25" ma:contentTypeDescription="Create a new document." ma:contentTypeScope="" ma:versionID="d164a9ae56d0daafe857a599fcb991df">
  <xsd:schema xmlns:xsd="http://www.w3.org/2001/XMLSchema" xmlns:xs="http://www.w3.org/2001/XMLSchema" xmlns:p="http://schemas.microsoft.com/office/2006/metadata/properties" xmlns:ns2="67247641-3ed8-4117-a865-f997f5514f40" xmlns:ns3="a6a7ac14-a5fb-4da4-a106-b179d368fdee" targetNamespace="http://schemas.microsoft.com/office/2006/metadata/properties" ma:root="true" ma:fieldsID="a81f438955adc10d96e29ece21c93c9a" ns2:_="" ns3:_="">
    <xsd:import namespace="67247641-3ed8-4117-a865-f997f5514f40"/>
    <xsd:import namespace="a6a7ac14-a5fb-4da4-a106-b179d368fd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47641-3ed8-4117-a865-f997f5514f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7b434354-605c-4a24-9fd5-b21458dd13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a7ac14-a5fb-4da4-a106-b179d368fd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a3d31a3-d002-455b-b27e-9c2530f0f540}" ma:internalName="TaxCatchAll" ma:showField="CatchAllData" ma:web="a6a7ac14-a5fb-4da4-a106-b179d368fd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47641-3ed8-4117-a865-f997f5514f40">
      <Terms xmlns="http://schemas.microsoft.com/office/infopath/2007/PartnerControls"/>
    </lcf76f155ced4ddcb4097134ff3c332f>
    <TaxCatchAll xmlns="a6a7ac14-a5fb-4da4-a106-b179d368fdee" xsi:nil="true"/>
  </documentManagement>
</p:properties>
</file>

<file path=customXml/itemProps1.xml><?xml version="1.0" encoding="utf-8"?>
<ds:datastoreItem xmlns:ds="http://schemas.openxmlformats.org/officeDocument/2006/customXml" ds:itemID="{C40E5E52-6B1B-4429-84B1-F69553572ADE}">
  <ds:schemaRefs>
    <ds:schemaRef ds:uri="67247641-3ed8-4117-a865-f997f5514f40"/>
    <ds:schemaRef ds:uri="a6a7ac14-a5fb-4da4-a106-b179d368fd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AD3397D-2BB8-4121-9F39-EA8E9BFC0A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D673DD-BB79-47F6-9A14-CF7886730C96}">
  <ds:schemaRefs>
    <ds:schemaRef ds:uri="67247641-3ed8-4117-a865-f997f5514f40"/>
    <ds:schemaRef ds:uri="a6a7ac14-a5fb-4da4-a106-b179d368fd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1838</Words>
  <Application>Microsoft Macintosh PowerPoint</Application>
  <PresentationFormat>Widescreen</PresentationFormat>
  <Paragraphs>187</Paragraphs>
  <Slides>18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Aptos</vt:lpstr>
      <vt:lpstr>Arial</vt:lpstr>
      <vt:lpstr>Calibri</vt:lpstr>
      <vt:lpstr>Slack-Lato</vt:lpstr>
      <vt:lpstr>Source Sans 3</vt:lpstr>
      <vt:lpstr>Source Sans 3 Semibold</vt:lpstr>
      <vt:lpstr>Titillium Web</vt:lpstr>
      <vt:lpstr>Heart of it All Deck</vt:lpstr>
      <vt:lpstr>Opening and Closing Slides</vt:lpstr>
      <vt:lpstr>1_Heart of it All Deck</vt:lpstr>
      <vt:lpstr>PowerPoint Presentation</vt:lpstr>
      <vt:lpstr>Summer 2026  AI Research Experience (AIRE) Program Introduction and What to Expect  Karen Tomko, Emily Fairchild Ohio Supercomputer Center aire-info@osc.edu </vt:lpstr>
      <vt:lpstr>SOME THANKS</vt:lpstr>
      <vt:lpstr>TODAY’S AGENDA</vt:lpstr>
      <vt:lpstr>Terminology</vt:lpstr>
      <vt:lpstr>OH-SCIPE PROJECT OVERVIEW</vt:lpstr>
      <vt:lpstr>AI RESEARCH EXPERIENCES FOR OHIO UNDERGRADUATES</vt:lpstr>
      <vt:lpstr>Overview of AIRE</vt:lpstr>
      <vt:lpstr>Congratulations!</vt:lpstr>
      <vt:lpstr>What to Expect</vt:lpstr>
      <vt:lpstr>What is expected of you</vt:lpstr>
      <vt:lpstr>Schedule</vt:lpstr>
      <vt:lpstr>Training Schedule and Topics</vt:lpstr>
      <vt:lpstr>CIP Weekly Office Hours</vt:lpstr>
      <vt:lpstr>Slack Channel</vt:lpstr>
      <vt:lpstr>PowerPoint Presentation</vt:lpstr>
      <vt:lpstr>Project Overviews</vt:lpstr>
      <vt:lpstr>DATACENTER TOUR (A.K.A SOCC TOUR)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Johnson, Douglas</dc:creator>
  <cp:lastModifiedBy>Fairchild, Emily</cp:lastModifiedBy>
  <cp:revision>8</cp:revision>
  <dcterms:created xsi:type="dcterms:W3CDTF">2024-04-09T13:53:17Z</dcterms:created>
  <dcterms:modified xsi:type="dcterms:W3CDTF">2026-05-20T14:50:59Z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0x010100C952FCAA67ED3941AAB86C9E82812121</vt:lpwstr>
  </property>
  <property fmtid="{D5CDD505-2E9C-101B-9397-08002B2CF9AE}" pid="3" name="MediaServiceImageTags">
    <vt:lpwstr/>
  </property>
  <property fmtid="{D5CDD505-2E9C-101B-9397-08002B2CF9AE}" pid="4" name="Order">
    <vt:r8>33900</vt:r8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{"FileActivityType":"9","FileActivityTimeStamp":"2026-05-12T20:18:31.870Z","FileActivityUsersOnPage":[{"DisplayName":"Fairchild, Emily","Id":"fairchild.168@osu.edu"},{"DisplayName":"Tomko, Karen","Id":"tomko.19@osu.edu"}],"FileActivityNavigationId":null}</vt:lpwstr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